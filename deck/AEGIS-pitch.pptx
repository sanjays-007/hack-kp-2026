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55279" y="822960"/>
            <a:ext cx="5120640" cy="5120640"/>
          </a:xfrm>
          <a:prstGeom prst="ellipse">
            <a:avLst/>
          </a:prstGeom>
          <a:noFill/>
          <a:ln w="15240">
            <a:solidFill>
              <a:srgbClr val="14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463040"/>
            <a:ext cx="3840480" cy="3840480"/>
          </a:xfrm>
          <a:prstGeom prst="ellipse">
            <a:avLst/>
          </a:prstGeom>
          <a:noFill/>
          <a:ln w="15240">
            <a:solidFill>
              <a:srgbClr val="18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89720" y="2057400"/>
            <a:ext cx="2651760" cy="2651760"/>
          </a:xfrm>
          <a:prstGeom prst="ellipse">
            <a:avLst/>
          </a:prstGeom>
          <a:solidFill>
            <a:srgbClr val="13213C"/>
          </a:solidFill>
          <a:ln w="222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9738360" y="2651760"/>
            <a:ext cx="1554480" cy="1463040"/>
          </a:xfrm>
          <a:prstGeom prst="hexagon">
            <a:avLst/>
          </a:prstGeom>
          <a:solidFill>
            <a:srgbClr val="0E749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38360" y="3063240"/>
            <a:ext cx="155448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8FAFC"/>
                </a:solidFill>
                <a:latin typeface="Segoe UI Semibold"/>
              </a:rPr>
              <a:t>AI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2148840"/>
            <a:ext cx="1371600" cy="0"/>
          </a:xfrm>
          <a:prstGeom prst="bentConnector3">
            <a:avLst/>
          </a:prstGeom>
          <a:ln w="381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286000"/>
            <a:ext cx="786384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800" b="1">
                <a:solidFill>
                  <a:srgbClr val="F8FAFC"/>
                </a:solidFill>
                <a:latin typeface="Segoe UI Semibold"/>
              </a:rPr>
              <a:t>AEGIS</a:t>
            </a:r>
            <a:r>
              <a:rPr sz="7800" b="1">
                <a:solidFill>
                  <a:srgbClr val="22D3EE"/>
                </a:solidFill>
                <a:latin typeface="Segoe UI Semibold"/>
              </a:rPr>
              <a:t>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22D3EE"/>
                </a:solidFill>
                <a:latin typeface="Segoe UI Semibold"/>
              </a:rPr>
              <a:t>AI Evidence &amp; Guardianship Intelligence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41648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The sovereign intelligence fabric for child protection — provable at every step.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80560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CBD5E1"/>
                </a:solidFill>
                <a:latin typeface="Segoe UI"/>
              </a:rPr>
              <a:t>From terabytes to testimony — in hours, not months.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394960"/>
            <a:ext cx="7680960" cy="822960"/>
          </a:xfrm>
          <a:prstGeom prst="roundRect">
            <a:avLst>
              <a:gd name="adj" fmla="val 12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94960"/>
            <a:ext cx="7315200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8FAFC"/>
                </a:solidFill>
                <a:latin typeface="Segoe UI Semibold"/>
              </a:rPr>
              <a:t>HACK-KP 2026</a:t>
            </a:r>
            <a:r>
              <a:rPr sz="1300" b="0">
                <a:solidFill>
                  <a:srgbClr val="94A3B8"/>
                </a:solidFill>
                <a:latin typeface="Segoe UI"/>
              </a:rPr>
              <a:t>   ·   Child-Protection Investigation Track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2D3EE"/>
                </a:solidFill>
                <a:latin typeface="Segoe UI"/>
              </a:rPr>
              <a:t>Air-gapped  ·  Court-admissible  ·  Investigator-wellbeing-first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AEGIS-X  ·  HACK-KP 2026  ·  Confidential — Authorized Agencies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932688"/>
            <a:ext cx="1280160" cy="0"/>
          </a:xfrm>
          <a:prstGeom prst="bentConnector3">
            <a:avLst/>
          </a:prstGeom>
          <a:ln w="381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Segoe UI Semibold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Segoe UI Semibold"/>
              </a:rPr>
              <a:t>Investigators are drowning — and hashing is blind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457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CBD5E1"/>
                </a:solidFill>
                <a:latin typeface="Segoe UI"/>
              </a:rPr>
              <a:t>Exploding evidence volume collides with manual review, human trauma, and content that legacy tools cannot see.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2615184" cy="2423160"/>
          </a:xfrm>
          <a:prstGeom prst="roundRect">
            <a:avLst>
              <a:gd name="adj" fmla="val 6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82296" cy="2423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697480"/>
            <a:ext cx="2203703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59E0B"/>
                </a:solidFill>
                <a:latin typeface="Segoe UI Semibold"/>
              </a:rPr>
              <a:t>2.4 TB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675887"/>
            <a:ext cx="220370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  <a:latin typeface="Segoe UI Semibold"/>
              </a:rPr>
              <a:t>PER SEIZED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041648"/>
            <a:ext cx="2157984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480k+ files across 3 devices in a single operation — impossible to review by hand.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4135" y="2514600"/>
            <a:ext cx="2615184" cy="2423160"/>
          </a:xfrm>
          <a:prstGeom prst="roundRect">
            <a:avLst>
              <a:gd name="adj" fmla="val 6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74135" y="2514600"/>
            <a:ext cx="82296" cy="24231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2697480"/>
            <a:ext cx="2203703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F4444"/>
                </a:solidFill>
                <a:latin typeface="Segoe UI Semibold"/>
              </a:rPr>
              <a:t>9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3675887"/>
            <a:ext cx="220370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  <a:latin typeface="Segoe UI Semibold"/>
              </a:rPr>
              <a:t>TYPICAL REVIEW BACKLOG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4041648"/>
            <a:ext cx="2157984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Manual triage delays justice while victims remain in active harm.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08192" y="2514600"/>
            <a:ext cx="2615184" cy="2423160"/>
          </a:xfrm>
          <a:prstGeom prst="roundRect">
            <a:avLst>
              <a:gd name="adj" fmla="val 6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08192" y="2514600"/>
            <a:ext cx="82296" cy="24231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697480"/>
            <a:ext cx="2203703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A78BFA"/>
                </a:solidFill>
                <a:latin typeface="Segoe UI Semibold"/>
              </a:rPr>
              <a:t>Secondary
Trauma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675887"/>
            <a:ext cx="220370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  <a:latin typeface="Segoe UI Semibold"/>
              </a:rPr>
              <a:t>INVESTIGATOR STS / PTSD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4041648"/>
            <a:ext cx="2157984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Direct exposure to abuse imagery drives burnout and severe workforce turnover.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42247" y="2514600"/>
            <a:ext cx="2615184" cy="2423160"/>
          </a:xfrm>
          <a:prstGeom prst="roundRect">
            <a:avLst>
              <a:gd name="adj" fmla="val 6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42247" y="2514600"/>
            <a:ext cx="82296" cy="24231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79" y="2697480"/>
            <a:ext cx="2203703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22D3EE"/>
                </a:solidFill>
                <a:latin typeface="Segoe UI Semibold"/>
              </a:rPr>
              <a:t>Zero-day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79" y="3675887"/>
            <a:ext cx="220370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  <a:latin typeface="Segoe UI Semibold"/>
              </a:rPr>
              <a:t>INVISIBLE TO HASHING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79" y="4041648"/>
            <a:ext cx="2157984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PhotoDNA / Project VIC hashes fail on novel &amp; AI-generated content.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212080"/>
            <a:ext cx="10908792" cy="960120"/>
          </a:xfrm>
          <a:prstGeom prst="roundRect">
            <a:avLst>
              <a:gd name="adj" fmla="val 10000"/>
            </a:avLst>
          </a:prstGeom>
          <a:solidFill>
            <a:srgbClr val="1B2C4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212080"/>
            <a:ext cx="47548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Digital-forensics market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22D3EE"/>
                </a:solidFill>
                <a:latin typeface="Segoe UI Semibold"/>
              </a:rPr>
              <a:t>$12.94B → $22.81B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852160" y="5440680"/>
            <a:ext cx="0" cy="502920"/>
          </a:xfrm>
          <a:prstGeom prst="bentConnector3">
            <a:avLst/>
          </a:prstGeom>
          <a:ln w="12700">
            <a:solidFill>
              <a:srgbClr val="273A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126480" y="5212080"/>
            <a:ext cx="5486400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8FAFC"/>
                </a:solidFill>
                <a:latin typeface="Segoe UI Semibold"/>
              </a:rPr>
              <a:t>by 2030  ·  12.0% CAGR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The surge is driven by IoT endpoints, encrypted volumes, and sophisticated evasion — automation is no longer optional.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AEGIS-X  ·  HACK-KP 2026  ·  Confidential — Authorized Agencies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932688"/>
            <a:ext cx="1280160" cy="0"/>
          </a:xfrm>
          <a:prstGeom prst="bentConnector3">
            <a:avLst/>
          </a:prstGeom>
          <a:ln w="381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Segoe UI Semibold"/>
              </a:rPr>
              <a:t>CHALLENGE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Segoe UI Semibold"/>
              </a:rPr>
              <a:t>12 innovation areas → 12 AEGIS-X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457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BD5E1"/>
                </a:solidFill>
                <a:latin typeface="Segoe UI"/>
              </a:rPr>
              <a:t>Every required capability maps to a purpose-built module in one unified platform.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2670048" cy="1207008"/>
          </a:xfrm>
          <a:prstGeom prst="roundRect">
            <a:avLst>
              <a:gd name="adj" fmla="val 7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45973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Segoe UI Semi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825496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 Semibold"/>
              </a:rPr>
              <a:t>Content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154679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2D3EE"/>
                </a:solidFill>
                <a:latin typeface="Segoe UI"/>
              </a:rPr>
              <a:t>▸ Visual Triage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331720"/>
            <a:ext cx="2670048" cy="1207008"/>
          </a:xfrm>
          <a:prstGeom prst="roundRect">
            <a:avLst>
              <a:gd name="adj" fmla="val 7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245973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Segoe UI Semi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825496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 Semibold"/>
              </a:rPr>
              <a:t>Threat Identification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3154679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2D3EE"/>
                </a:solidFill>
                <a:latin typeface="Segoe UI"/>
              </a:rPr>
              <a:t>▸ Human-Centric Perception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331720"/>
            <a:ext cx="2670048" cy="1207008"/>
          </a:xfrm>
          <a:prstGeom prst="roundRect">
            <a:avLst>
              <a:gd name="adj" fmla="val 7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45973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Segoe UI Semi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825496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 Semibold"/>
              </a:rPr>
              <a:t>Source Correlation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154679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2D3EE"/>
                </a:solidFill>
                <a:latin typeface="Segoe UI"/>
              </a:rPr>
              <a:t>▸ Entity Graph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39" y="2331720"/>
            <a:ext cx="2670048" cy="1207008"/>
          </a:xfrm>
          <a:prstGeom prst="roundRect">
            <a:avLst>
              <a:gd name="adj" fmla="val 7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8007" y="245973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Segoe UI Semi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7" y="2825496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 Semibold"/>
              </a:rPr>
              <a:t>Contextual Extraction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7" y="3154679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2D3EE"/>
                </a:solidFill>
                <a:latin typeface="Segoe UI"/>
              </a:rPr>
              <a:t>▸ Context Miner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666744"/>
            <a:ext cx="2670048" cy="1207008"/>
          </a:xfrm>
          <a:prstGeom prst="roundRect">
            <a:avLst>
              <a:gd name="adj" fmla="val 7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379475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Segoe UI Semibold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4160520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 Semibold"/>
              </a:rPr>
              <a:t>Activity Patterns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4489704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2D3EE"/>
                </a:solidFill>
                <a:latin typeface="Segoe UI"/>
              </a:rPr>
              <a:t>▸ Behavior Profiler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0" y="3666744"/>
            <a:ext cx="2670048" cy="1207008"/>
          </a:xfrm>
          <a:prstGeom prst="roundRect">
            <a:avLst>
              <a:gd name="adj" fmla="val 7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30168" y="379475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Segoe UI Semibold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0168" y="4160520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 Semibold"/>
              </a:rPr>
              <a:t>Metadata Mapping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0168" y="4489704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2D3EE"/>
                </a:solidFill>
                <a:latin typeface="Segoe UI"/>
              </a:rPr>
              <a:t>▸ Provenance Mapper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666744"/>
            <a:ext cx="2670048" cy="1207008"/>
          </a:xfrm>
          <a:prstGeom prst="roundRect">
            <a:avLst>
              <a:gd name="adj" fmla="val 7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9475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Segoe UI Semibold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4160520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 Semibold"/>
              </a:rPr>
              <a:t>Synthetic 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4489704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2D3EE"/>
                </a:solidFill>
                <a:latin typeface="Segoe UI"/>
              </a:rPr>
              <a:t>▸ DeepFake Shield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06839" y="3666744"/>
            <a:ext cx="2670048" cy="1207008"/>
          </a:xfrm>
          <a:prstGeom prst="roundRect">
            <a:avLst>
              <a:gd name="adj" fmla="val 7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08007" y="379475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Segoe UI Semibold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08007" y="4160520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 Semibold"/>
              </a:rPr>
              <a:t>Timeline Reconstruction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08007" y="4489704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2D3EE"/>
                </a:solidFill>
                <a:latin typeface="Segoe UI"/>
              </a:rPr>
              <a:t>▸ Chronos Engine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001768"/>
            <a:ext cx="2670048" cy="1207008"/>
          </a:xfrm>
          <a:prstGeom prst="roundRect">
            <a:avLst>
              <a:gd name="adj" fmla="val 7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7" y="5129783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Segoe UI Semibold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7" y="5495544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 Semibold"/>
              </a:rPr>
              <a:t>Intelligent Retrieval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7" y="5824728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2D3EE"/>
                </a:solidFill>
                <a:latin typeface="Segoe UI"/>
              </a:rPr>
              <a:t>▸ Ask AEGIS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29000" y="5001768"/>
            <a:ext cx="2670048" cy="1207008"/>
          </a:xfrm>
          <a:prstGeom prst="roundRect">
            <a:avLst>
              <a:gd name="adj" fmla="val 7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30168" y="5129783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Segoe UI Semibold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30168" y="5495544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 Semibold"/>
              </a:rPr>
              <a:t>Automated Reporting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30168" y="5824728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2D3EE"/>
                </a:solidFill>
                <a:latin typeface="Segoe UI"/>
              </a:rPr>
              <a:t>▸ Court-Ready Reports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5001768"/>
            <a:ext cx="2670048" cy="1207008"/>
          </a:xfrm>
          <a:prstGeom prst="roundRect">
            <a:avLst>
              <a:gd name="adj" fmla="val 7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19088" y="5129783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Segoe UI Semibold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19088" y="5495544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 Semibold"/>
              </a:rPr>
              <a:t>Risk Assessment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19088" y="5824728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2D3EE"/>
                </a:solidFill>
                <a:latin typeface="Segoe UI"/>
              </a:rPr>
              <a:t>▸ Lead Prioritizer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06839" y="5001768"/>
            <a:ext cx="2670048" cy="1207008"/>
          </a:xfrm>
          <a:prstGeom prst="roundRect">
            <a:avLst>
              <a:gd name="adj" fmla="val 7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08007" y="5129783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Segoe UI Semibold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08007" y="5495544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 Semibold"/>
              </a:rPr>
              <a:t>Intelligence Fusion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08007" y="5824728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2D3EE"/>
                </a:solidFill>
                <a:latin typeface="Segoe UI"/>
              </a:rPr>
              <a:t>▸ Fusion Center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AEGIS-X  ·  HACK-KP 2026  ·  Confidential — Authorized Agencies Only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932688"/>
            <a:ext cx="1280160" cy="0"/>
          </a:xfrm>
          <a:prstGeom prst="bentConnector3">
            <a:avLst/>
          </a:prstGeom>
          <a:ln w="381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Segoe UI Semibold"/>
              </a:rPr>
              <a:t>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Segoe UI Semibold"/>
              </a:rPr>
              <a:t>One console. From seizure to sworn testimony.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457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AEGIS-X is an air-gapped AI investigation platform that turns terabytes of seized evidence into a prioritized, court-ready case file — while shielding investigators from traumatic content.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63240"/>
            <a:ext cx="1965960" cy="1691640"/>
          </a:xfrm>
          <a:prstGeom prst="roundRect">
            <a:avLst>
              <a:gd name="adj" fmla="val 8000"/>
            </a:avLst>
          </a:prstGeom>
          <a:solidFill>
            <a:srgbClr val="13213C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67028" y="3264408"/>
            <a:ext cx="512064" cy="512064"/>
          </a:xfrm>
          <a:prstGeom prst="ellipse">
            <a:avLst/>
          </a:prstGeom>
          <a:noFill/>
          <a:ln w="222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67028" y="326440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D3EE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04488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Segoe UI Semibold"/>
              </a:rPr>
              <a:t>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5196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Seized devices,
VICS normalization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24327" y="3909060"/>
            <a:ext cx="219456" cy="0"/>
          </a:xfrm>
          <a:prstGeom prst="bentConnector3">
            <a:avLst/>
          </a:prstGeom>
          <a:ln w="3175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2752343" y="3835908"/>
            <a:ext cx="146304" cy="146304"/>
          </a:xfrm>
          <a:prstGeom prst="triangl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62072" y="3063240"/>
            <a:ext cx="1965960" cy="1691640"/>
          </a:xfrm>
          <a:prstGeom prst="roundRect">
            <a:avLst>
              <a:gd name="adj" fmla="val 8000"/>
            </a:avLst>
          </a:prstGeom>
          <a:solidFill>
            <a:srgbClr val="13213C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89020" y="3264408"/>
            <a:ext cx="512064" cy="512064"/>
          </a:xfrm>
          <a:prstGeom prst="ellipse">
            <a:avLst/>
          </a:prstGeom>
          <a:noFill/>
          <a:ln w="222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9020" y="326440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D3EE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3904488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Segoe UI Semibold"/>
              </a:rPr>
              <a:t>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2072" y="425196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Vision · NLP · age &amp;
pose · deepfake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46319" y="3909060"/>
            <a:ext cx="219456" cy="0"/>
          </a:xfrm>
          <a:prstGeom prst="bentConnector3">
            <a:avLst/>
          </a:prstGeom>
          <a:ln w="3175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4974336" y="3835908"/>
            <a:ext cx="146304" cy="146304"/>
          </a:xfrm>
          <a:prstGeom prst="triangl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84064" y="3063240"/>
            <a:ext cx="1965960" cy="1691640"/>
          </a:xfrm>
          <a:prstGeom prst="roundRect">
            <a:avLst>
              <a:gd name="adj" fmla="val 8000"/>
            </a:avLst>
          </a:prstGeom>
          <a:solidFill>
            <a:srgbClr val="13213C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3264408"/>
            <a:ext cx="512064" cy="512064"/>
          </a:xfrm>
          <a:prstGeom prst="ellipse">
            <a:avLst/>
          </a:prstGeom>
          <a:noFill/>
          <a:ln w="222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326440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D3EE"/>
                </a:solidFill>
                <a:latin typeface="Segoe UI Semibol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4064" y="3904488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Segoe UI Semibold"/>
              </a:rPr>
              <a:t>CORRELATE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4064" y="425196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Entity graph &amp;
timeline fusion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68311" y="3909060"/>
            <a:ext cx="219456" cy="0"/>
          </a:xfrm>
          <a:prstGeom prst="bentConnector3">
            <a:avLst/>
          </a:prstGeom>
          <a:ln w="3175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7196327" y="3835908"/>
            <a:ext cx="146304" cy="146304"/>
          </a:xfrm>
          <a:prstGeom prst="triangl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06055" y="3063240"/>
            <a:ext cx="1965960" cy="1691640"/>
          </a:xfrm>
          <a:prstGeom prst="roundRect">
            <a:avLst>
              <a:gd name="adj" fmla="val 8000"/>
            </a:avLst>
          </a:prstGeom>
          <a:solidFill>
            <a:srgbClr val="13213C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33004" y="3264408"/>
            <a:ext cx="512064" cy="512064"/>
          </a:xfrm>
          <a:prstGeom prst="ellipse">
            <a:avLst/>
          </a:prstGeom>
          <a:noFill/>
          <a:ln w="222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33004" y="326440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59E0B"/>
                </a:solidFill>
                <a:latin typeface="Segoe UI Semibold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06055" y="3904488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Segoe UI Semibold"/>
              </a:rPr>
              <a:t>PRIORITIZE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06055" y="425196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Severity scoring &amp;
active-abuse queue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90303" y="3909060"/>
            <a:ext cx="219456" cy="0"/>
          </a:xfrm>
          <a:prstGeom prst="bentConnector3">
            <a:avLst/>
          </a:prstGeom>
          <a:ln w="31750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5400000">
            <a:off x="9418319" y="3835908"/>
            <a:ext cx="146304" cy="146304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528047" y="3063240"/>
            <a:ext cx="1965960" cy="1691640"/>
          </a:xfrm>
          <a:prstGeom prst="roundRect">
            <a:avLst>
              <a:gd name="adj" fmla="val 8000"/>
            </a:avLst>
          </a:prstGeom>
          <a:solidFill>
            <a:srgbClr val="13213C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54995" y="3264408"/>
            <a:ext cx="512064" cy="512064"/>
          </a:xfrm>
          <a:prstGeom prst="ellipse">
            <a:avLst/>
          </a:prstGeom>
          <a:noFill/>
          <a:ln w="222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54995" y="326440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34D399"/>
                </a:solidFill>
                <a:latin typeface="Segoe UI Semibold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28047" y="3904488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Segoe UI Semibold"/>
              </a:rPr>
              <a:t>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8047" y="425196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§63 certificate &amp;
SHA-256 manifest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166360"/>
            <a:ext cx="10908792" cy="960120"/>
          </a:xfrm>
          <a:prstGeom prst="roundRect">
            <a:avLst>
              <a:gd name="adj" fmla="val 10000"/>
            </a:avLst>
          </a:prstGeom>
          <a:solidFill>
            <a:srgbClr val="1B2C4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166360"/>
            <a:ext cx="2452878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>
                <a:solidFill>
                  <a:srgbClr val="22D3EE"/>
                </a:solidFill>
                <a:latin typeface="Segoe UI Semibold"/>
              </a:rPr>
              <a:t>47 min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auto-triage of 2.4 TB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367278" y="5349240"/>
            <a:ext cx="0" cy="594360"/>
          </a:xfrm>
          <a:prstGeom prst="bentConnector3">
            <a:avLst/>
          </a:prstGeom>
          <a:ln w="12700">
            <a:solidFill>
              <a:srgbClr val="273A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595878" y="5166360"/>
            <a:ext cx="2452878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>
                <a:solidFill>
                  <a:srgbClr val="34D399"/>
                </a:solidFill>
                <a:latin typeface="Segoe UI Semibold"/>
              </a:rPr>
              <a:t>~91%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less traumatic content seen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094476" y="5349240"/>
            <a:ext cx="0" cy="594360"/>
          </a:xfrm>
          <a:prstGeom prst="bentConnector3">
            <a:avLst/>
          </a:prstGeom>
          <a:ln w="12700">
            <a:solidFill>
              <a:srgbClr val="273A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323076" y="5166360"/>
            <a:ext cx="2452878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>
                <a:solidFill>
                  <a:srgbClr val="A78BFA"/>
                </a:solidFill>
                <a:latin typeface="Segoe UI Semibold"/>
              </a:rPr>
              <a:t>100% local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sovereign &amp; air-gapped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821674" y="5349240"/>
            <a:ext cx="0" cy="594360"/>
          </a:xfrm>
          <a:prstGeom prst="bentConnector3">
            <a:avLst/>
          </a:prstGeom>
          <a:ln w="12700">
            <a:solidFill>
              <a:srgbClr val="273A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050274" y="5166360"/>
            <a:ext cx="2452878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>
                <a:solidFill>
                  <a:srgbClr val="F59E0B"/>
                </a:solidFill>
                <a:latin typeface="Segoe UI Semibold"/>
              </a:rPr>
              <a:t>Court-ready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by design, not afterthought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AEGIS-X  ·  HACK-KP 2026  ·  Confidential — Authorized Agencies Only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932688"/>
            <a:ext cx="1280160" cy="0"/>
          </a:xfrm>
          <a:prstGeom prst="bentConnector3">
            <a:avLst/>
          </a:prstGeom>
          <a:ln w="381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Segoe UI Semibold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Segoe UI Semibold"/>
              </a:rPr>
              <a:t>Layered pipeline inside a Zero-Trust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457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11064240" cy="416052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673352"/>
            <a:ext cx="338328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82496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2D3EE"/>
                </a:solidFill>
                <a:latin typeface="Segoe UI Semibold"/>
              </a:rPr>
              <a:t>AIR-GAPPED  ·  ZERO-TRUST PERIMETER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673352"/>
            <a:ext cx="3749039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682496"/>
            <a:ext cx="37490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A78BFA"/>
                </a:solidFill>
                <a:latin typeface="Segoe UI Semibold"/>
              </a:rPr>
              <a:t>CONFIDENTIAL-GPU ENCLAVE · ATTESTED 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148840"/>
            <a:ext cx="10378440" cy="566928"/>
          </a:xfrm>
          <a:prstGeom prst="roundRect">
            <a:avLst>
              <a:gd name="adj" fmla="val 6000"/>
            </a:avLst>
          </a:prstGeom>
          <a:solidFill>
            <a:srgbClr val="13213C"/>
          </a:solidFill>
          <a:ln w="15875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1488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4A3B8"/>
                </a:solidFill>
                <a:latin typeface="Segoe UI Semibold"/>
              </a:rPr>
              <a:t>EVIDENCE 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148840"/>
            <a:ext cx="53492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Seized phones &amp; PCs · CCTNS · CDR/IPDR · OSINT · blockchain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03620" y="2715768"/>
            <a:ext cx="0" cy="68580"/>
          </a:xfrm>
          <a:prstGeom prst="bentConnector3">
            <a:avLst/>
          </a:prstGeom>
          <a:ln w="1905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2784348"/>
            <a:ext cx="10378440" cy="566928"/>
          </a:xfrm>
          <a:prstGeom prst="roundRect">
            <a:avLst>
              <a:gd name="adj" fmla="val 6000"/>
            </a:avLst>
          </a:prstGeom>
          <a:solidFill>
            <a:srgbClr val="13213C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2784348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 Semibold"/>
              </a:rPr>
              <a:t>INGESTION  &amp;  VICS NORMALIZATION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784348"/>
            <a:ext cx="53492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Hashing (SHA-256) · EXIF/GPS · C2PA · Project VIC JSON schema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03620" y="3351276"/>
            <a:ext cx="0" cy="68580"/>
          </a:xfrm>
          <a:prstGeom prst="bentConnector3">
            <a:avLst/>
          </a:prstGeom>
          <a:ln w="19050">
            <a:solidFill>
              <a:srgbClr val="0E74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" y="3419856"/>
            <a:ext cx="10378440" cy="566928"/>
          </a:xfrm>
          <a:prstGeom prst="roundRect">
            <a:avLst>
              <a:gd name="adj" fmla="val 6000"/>
            </a:avLst>
          </a:prstGeom>
          <a:solidFill>
            <a:srgbClr val="1B2C4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419856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 Semibold"/>
              </a:rPr>
              <a:t>AI CORE · INVESTIGATION SWARM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419856"/>
            <a:ext cx="53492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Orchestrator → Triage·Graph·Vision·Crypto·Chronos·Report → Verifier 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20072" y="3547872"/>
            <a:ext cx="137160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3557016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4D399"/>
                </a:solidFill>
                <a:latin typeface="Segoe UI Semibold"/>
              </a:rPr>
              <a:t>VERIFIER ✓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03620" y="3986784"/>
            <a:ext cx="0" cy="68580"/>
          </a:xfrm>
          <a:prstGeom prst="bentConnector3">
            <a:avLst/>
          </a:prstGeom>
          <a:ln w="1905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4400" y="4055364"/>
            <a:ext cx="10378440" cy="566928"/>
          </a:xfrm>
          <a:prstGeom prst="roundRect">
            <a:avLst>
              <a:gd name="adj" fmla="val 6000"/>
            </a:avLst>
          </a:prstGeom>
          <a:solidFill>
            <a:srgbClr val="13213C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4055364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78BFA"/>
                </a:solidFill>
                <a:latin typeface="Segoe UI Semibold"/>
              </a:rPr>
              <a:t>FUSION GRAPH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4055364"/>
            <a:ext cx="53492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One temporal graph: suspects · victims · hashes · wallets · IPs · timeline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103620" y="4622292"/>
            <a:ext cx="0" cy="68580"/>
          </a:xfrm>
          <a:prstGeom prst="bentConnector3">
            <a:avLst/>
          </a:prstGeom>
          <a:ln w="19050">
            <a:solidFill>
              <a:srgbClr val="A78B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14400" y="4690872"/>
            <a:ext cx="10378440" cy="566928"/>
          </a:xfrm>
          <a:prstGeom prst="roundRect">
            <a:avLst>
              <a:gd name="adj" fmla="val 6000"/>
            </a:avLst>
          </a:prstGeom>
          <a:solidFill>
            <a:srgbClr val="13213C"/>
          </a:solidFill>
          <a:ln w="15875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4690872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 Semibold"/>
              </a:rPr>
              <a:t>INVESTIGATOR CONSOLE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4690872"/>
            <a:ext cx="53492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Blur-by-default triage · XAI overlays · Ask AEGIS · risk queue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03620" y="5257800"/>
            <a:ext cx="0" cy="68580"/>
          </a:xfrm>
          <a:prstGeom prst="bentConnector3">
            <a:avLst/>
          </a:prstGeom>
          <a:ln w="1905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14400" y="5326379"/>
            <a:ext cx="10378440" cy="566928"/>
          </a:xfrm>
          <a:prstGeom prst="roundRect">
            <a:avLst>
              <a:gd name="adj" fmla="val 6000"/>
            </a:avLst>
          </a:prstGeom>
          <a:solidFill>
            <a:srgbClr val="1B2C4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5326379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Segoe UI Semibold"/>
              </a:rPr>
              <a:t>COURT-READY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5326379"/>
            <a:ext cx="53492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BSA-2023 §63 · SHA-256 chain of custody · enclave attestation · ECS-gated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AEGIS-X  ·  HACK-KP 2026  ·  Confidential — Authorized Agencies 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932688"/>
            <a:ext cx="1280160" cy="0"/>
          </a:xfrm>
          <a:prstGeom prst="bentConnector3">
            <a:avLst/>
          </a:prstGeom>
          <a:ln w="381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Segoe UI Semibold"/>
              </a:rPr>
              <a:t>AI CORE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Segoe UI Semibold"/>
              </a:rPr>
              <a:t>Four engines, explainable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457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5394960" cy="2084831"/>
          </a:xfrm>
          <a:prstGeom prst="roundRect">
            <a:avLst>
              <a:gd name="adj" fmla="val 5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1B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112264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1965960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8FAFC"/>
                </a:solidFill>
                <a:latin typeface="Segoe UI Semibold"/>
              </a:rPr>
              <a:t>Hybrid Content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2651760"/>
            <a:ext cx="4846320" cy="130759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100" b="0">
                <a:solidFill>
                  <a:srgbClr val="CBD5E1"/>
                </a:solidFill>
                <a:latin typeface="Segoe UI"/>
              </a:rPr>
              <a:t>ConvNeXt-Tiny + Swin Transformer fusion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100" b="0">
                <a:solidFill>
                  <a:srgbClr val="CBD5E1"/>
                </a:solidFill>
                <a:latin typeface="Segoe UI"/>
              </a:rPr>
              <a:t>Grad-CAM XAI overlays on every flag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100" b="0">
                <a:solidFill>
                  <a:srgbClr val="CBD5E1"/>
                </a:solidFill>
                <a:latin typeface="Segoe UI"/>
              </a:rPr>
              <a:t>Selective blur / semantic occlusion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100" b="0">
                <a:solidFill>
                  <a:srgbClr val="CBD5E1"/>
                </a:solidFill>
                <a:latin typeface="Segoe UI"/>
              </a:rPr>
              <a:t>Beyond NSFW — grooming &amp; context aware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965960"/>
            <a:ext cx="5394960" cy="2084831"/>
          </a:xfrm>
          <a:prstGeom prst="roundRect">
            <a:avLst>
              <a:gd name="adj" fmla="val 5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53912" y="1965960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1B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9944" y="2112264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1965960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8FAFC"/>
                </a:solidFill>
                <a:latin typeface="Segoe UI Semibold"/>
              </a:rPr>
              <a:t>Human-Centric Perception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651760"/>
            <a:ext cx="4846320" cy="130759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 </a:t>
            </a:r>
            <a:r>
              <a:rPr sz="1100" b="0">
                <a:solidFill>
                  <a:srgbClr val="CBD5E1"/>
                </a:solidFill>
                <a:latin typeface="Segoe UI"/>
              </a:rPr>
              <a:t>YOLO-Pose skeletal keypoints (BKPD)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 </a:t>
            </a:r>
            <a:r>
              <a:rPr sz="1100" b="0">
                <a:solidFill>
                  <a:srgbClr val="CBD5E1"/>
                </a:solidFill>
                <a:latin typeface="Segoe UI"/>
              </a:rPr>
              <a:t>Apparent-age distribution via KDE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 </a:t>
            </a:r>
            <a:r>
              <a:rPr sz="1100" b="0">
                <a:solidFill>
                  <a:srgbClr val="CBD5E1"/>
                </a:solidFill>
                <a:latin typeface="Segoe UI"/>
              </a:rPr>
              <a:t>Pose explicitness under obfuscation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 </a:t>
            </a:r>
            <a:r>
              <a:rPr sz="1100" b="0">
                <a:solidFill>
                  <a:srgbClr val="CBD5E1"/>
                </a:solidFill>
                <a:latin typeface="Segoe UI"/>
              </a:rPr>
              <a:t>Flags likely-minor with statistical reliability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97096"/>
            <a:ext cx="5394960" cy="2084831"/>
          </a:xfrm>
          <a:prstGeom prst="roundRect">
            <a:avLst>
              <a:gd name="adj" fmla="val 5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4197096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1B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6112" y="4343400"/>
            <a:ext cx="274320" cy="27432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4197096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8FAFC"/>
                </a:solidFill>
                <a:latin typeface="Segoe UI Semibold"/>
              </a:rPr>
              <a:t>Entity Graph — TAGNN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19" y="4882896"/>
            <a:ext cx="4846320" cy="130759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A78BFA"/>
                </a:solidFill>
                <a:latin typeface="Segoe UI"/>
              </a:rPr>
              <a:t>•  </a:t>
            </a:r>
            <a:r>
              <a:rPr sz="1100" b="0">
                <a:solidFill>
                  <a:srgbClr val="CBD5E1"/>
                </a:solidFill>
                <a:latin typeface="Segoe UI"/>
              </a:rPr>
              <a:t>Transformer-autoencoder graph NN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A78BFA"/>
                </a:solidFill>
                <a:latin typeface="Segoe UI"/>
              </a:rPr>
              <a:t>•  </a:t>
            </a:r>
            <a:r>
              <a:rPr sz="1100" b="0">
                <a:solidFill>
                  <a:srgbClr val="CBD5E1"/>
                </a:solidFill>
                <a:latin typeface="Segoe UI"/>
              </a:rPr>
              <a:t>Nodes: suspects · victims · hashes · wallets · IPs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A78BFA"/>
                </a:solidFill>
                <a:latin typeface="Segoe UI"/>
              </a:rPr>
              <a:t>•  </a:t>
            </a:r>
            <a:r>
              <a:rPr sz="1100" b="0">
                <a:solidFill>
                  <a:srgbClr val="CBD5E1"/>
                </a:solidFill>
                <a:latin typeface="Segoe UI"/>
              </a:rPr>
              <a:t>Address clustering on crypto peel-chains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A78BFA"/>
                </a:solidFill>
                <a:latin typeface="Segoe UI"/>
              </a:rPr>
              <a:t>•  </a:t>
            </a:r>
            <a:r>
              <a:rPr sz="1100" b="0">
                <a:solidFill>
                  <a:srgbClr val="CBD5E1"/>
                </a:solidFill>
                <a:latin typeface="Segoe UI"/>
              </a:rPr>
              <a:t>Cross-case linkage of hidden actors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3912" y="4197096"/>
            <a:ext cx="5394960" cy="2084831"/>
          </a:xfrm>
          <a:prstGeom prst="roundRect">
            <a:avLst>
              <a:gd name="adj" fmla="val 5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53912" y="4197096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1B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9944" y="4343400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9712" y="4197096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8FAFC"/>
                </a:solidFill>
                <a:latin typeface="Segoe UI Semibold"/>
              </a:rPr>
              <a:t>Multimodal RAG — Ask AEGIS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882896"/>
            <a:ext cx="4846320" cy="130759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•  </a:t>
            </a:r>
            <a:r>
              <a:rPr sz="1100" b="0">
                <a:solidFill>
                  <a:srgbClr val="CBD5E1"/>
                </a:solidFill>
                <a:latin typeface="Segoe UI"/>
              </a:rPr>
              <a:t>ChromaDB vectors + local Llama (on-prem)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•  </a:t>
            </a:r>
            <a:r>
              <a:rPr sz="1100" b="0">
                <a:solidFill>
                  <a:srgbClr val="CBD5E1"/>
                </a:solidFill>
                <a:latin typeface="Segoe UI"/>
              </a:rPr>
              <a:t>Citation-grounded, deterministic answers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•  </a:t>
            </a:r>
            <a:r>
              <a:rPr sz="1100" b="0">
                <a:solidFill>
                  <a:srgbClr val="CBD5E1"/>
                </a:solidFill>
                <a:latin typeface="Segoe UI"/>
              </a:rPr>
              <a:t>HERAM hallucination scoring → ECS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•  </a:t>
            </a:r>
            <a:r>
              <a:rPr sz="1100" b="0">
                <a:solidFill>
                  <a:srgbClr val="CBD5E1"/>
                </a:solidFill>
                <a:latin typeface="Segoe UI"/>
              </a:rPr>
              <a:t>Below-threshold output auto-excluded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AEGIS-X  ·  HACK-KP 2026  ·  Confidential — Authorized Agencies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932688"/>
            <a:ext cx="1280160" cy="0"/>
          </a:xfrm>
          <a:prstGeom prst="bentConnector3">
            <a:avLst/>
          </a:prstGeom>
          <a:ln w="381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Segoe UI Semibold"/>
              </a:rPr>
              <a:t>DEEPFAKE SHIELD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Segoe UI Semibold"/>
              </a:rPr>
              <a:t>Catches what hash-matching can't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457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BD5E1"/>
                </a:solidFill>
                <a:latin typeface="Segoe UI"/>
              </a:rPr>
              <a:t>Synthetic CSAM (Stable Diffusion, GANs, face-swap) creates brand-new pixels — hashes are useless. AEGIS runs a three-stream ensemble plus optical physics.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3291840" cy="1874519"/>
          </a:xfrm>
          <a:prstGeom prst="roundRect">
            <a:avLst>
              <a:gd name="adj" fmla="val 6000"/>
            </a:avLst>
          </a:prstGeom>
          <a:solidFill>
            <a:srgbClr val="13213C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770632"/>
            <a:ext cx="457200" cy="457200"/>
          </a:xfrm>
          <a:prstGeom prst="ellipse">
            <a:avLst/>
          </a:prstGeom>
          <a:noFill/>
          <a:ln w="222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706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770632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8FAFC"/>
                </a:solidFill>
                <a:latin typeface="Segoe UI Semibold"/>
              </a:rPr>
              <a:t>Global Texture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27889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2D3EE"/>
                </a:solidFill>
                <a:latin typeface="Segoe UI Semibold"/>
              </a:rPr>
              <a:t>DINOv2 backbone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Macro-context &amp; GAN fingerprint artifacts across the whole frame.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86000" y="4389120"/>
            <a:ext cx="0" cy="201168"/>
          </a:xfrm>
          <a:prstGeom prst="bentConnector3">
            <a:avLst/>
          </a:prstGeom>
          <a:ln w="254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87952" y="2514600"/>
            <a:ext cx="3291840" cy="1874519"/>
          </a:xfrm>
          <a:prstGeom prst="roundRect">
            <a:avLst>
              <a:gd name="adj" fmla="val 6000"/>
            </a:avLst>
          </a:prstGeom>
          <a:solidFill>
            <a:srgbClr val="13213C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62272" y="2770632"/>
            <a:ext cx="457200" cy="457200"/>
          </a:xfrm>
          <a:prstGeom prst="ellipse">
            <a:avLst/>
          </a:prstGeom>
          <a:noFill/>
          <a:ln w="222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27706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2770632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8FAFC"/>
                </a:solidFill>
                <a:latin typeface="Segoe UI Semibold"/>
              </a:rPr>
              <a:t>Facial Geometry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383280"/>
            <a:ext cx="27889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59E0B"/>
                </a:solidFill>
                <a:latin typeface="Segoe UI Semibold"/>
              </a:rPr>
              <a:t>Localized facial stream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3703320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Anchors biometric landmarks; detects warped / swapped identity.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33872" y="4389120"/>
            <a:ext cx="0" cy="201168"/>
          </a:xfrm>
          <a:prstGeom prst="bentConnector3">
            <a:avLst/>
          </a:prstGeom>
          <a:ln w="25400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35823" y="2514600"/>
            <a:ext cx="3291840" cy="1874519"/>
          </a:xfrm>
          <a:prstGeom prst="roundRect">
            <a:avLst>
              <a:gd name="adj" fmla="val 6000"/>
            </a:avLst>
          </a:prstGeom>
          <a:solidFill>
            <a:srgbClr val="13213C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10144" y="2770632"/>
            <a:ext cx="457200" cy="457200"/>
          </a:xfrm>
          <a:prstGeom prst="ellipse">
            <a:avLst/>
          </a:prstGeom>
          <a:noFill/>
          <a:ln w="222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4" y="27706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A78BFA"/>
                </a:solidFill>
                <a:latin typeface="Segoe UI Semibol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04503" y="2770632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8FAFC"/>
                </a:solidFill>
                <a:latin typeface="Segoe UI Semibold"/>
              </a:rPr>
              <a:t>Semantic Fusion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0144" y="3383280"/>
            <a:ext cx="27889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A78BFA"/>
                </a:solidFill>
                <a:latin typeface="Segoe UI Semibold"/>
              </a:rPr>
              <a:t>Frozen-CLIP backbone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0144" y="3703320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Flags logical impossibilities &amp; scene inconsistencies.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81744" y="4389120"/>
            <a:ext cx="0" cy="201168"/>
          </a:xfrm>
          <a:prstGeom prst="bentConnector3">
            <a:avLst/>
          </a:prstGeom>
          <a:ln w="25400">
            <a:solidFill>
              <a:srgbClr val="A78B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40080" y="4892040"/>
            <a:ext cx="10908792" cy="1234440"/>
          </a:xfrm>
          <a:prstGeom prst="roundRect">
            <a:avLst>
              <a:gd name="adj" fmla="val 8000"/>
            </a:avLst>
          </a:prstGeom>
          <a:solidFill>
            <a:srgbClr val="1B2C4C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029200"/>
            <a:ext cx="4206240" cy="1005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4D399"/>
                </a:solidFill>
                <a:latin typeface="Segoe UI Semibold"/>
              </a:rPr>
              <a:t>ENSEMBLE  VERDICT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8FAFC"/>
                </a:solidFill>
                <a:latin typeface="Segoe UI Semibold"/>
              </a:rPr>
              <a:t>Authentic  ·  Synthetic  ·  Manipulated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394960" y="5074920"/>
            <a:ext cx="0" cy="868680"/>
          </a:xfrm>
          <a:prstGeom prst="bentConnector3">
            <a:avLst/>
          </a:prstGeom>
          <a:ln w="12700">
            <a:solidFill>
              <a:srgbClr val="273A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23560" y="5029200"/>
            <a:ext cx="5852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2D3EE"/>
                </a:solidFill>
                <a:latin typeface="Segoe UI Semibold"/>
              </a:rPr>
              <a:t>+  Defocus-blur optics</a:t>
            </a:r>
            <a:r>
              <a:rPr sz="1050" b="0">
                <a:solidFill>
                  <a:srgbClr val="94A3B8"/>
                </a:solidFill>
                <a:latin typeface="Segoe UI"/>
              </a:rPr>
              <a:t>  — real lenses have physical depth-of-field; latent-space models don't.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2D3EE"/>
                </a:solidFill>
                <a:latin typeface="Segoe UI Semibold"/>
              </a:rPr>
              <a:t>+  A/V sync matrix</a:t>
            </a:r>
            <a:r>
              <a:rPr sz="1050" b="0">
                <a:solidFill>
                  <a:srgbClr val="94A3B8"/>
                </a:solidFill>
                <a:latin typeface="Segoe UI"/>
              </a:rPr>
              <a:t>  — lip / audio desynchronization exposes video fabrication.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AEGIS-X  ·  HACK-KP 2026  ·  Confidential — Authorized Agencies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932688"/>
            <a:ext cx="1280160" cy="0"/>
          </a:xfrm>
          <a:prstGeom prst="bentConnector3">
            <a:avLst/>
          </a:prstGeom>
          <a:ln w="381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Segoe UI Semibold"/>
              </a:rPr>
              <a:t>COURT-ADMISSIBLE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Segoe UI Semibold"/>
              </a:rPr>
              <a:t>Evidentiary integrity is built in, not bolted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457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2615184" cy="2788920"/>
          </a:xfrm>
          <a:prstGeom prst="roundRect">
            <a:avLst>
              <a:gd name="adj" fmla="val 6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2615184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77440"/>
            <a:ext cx="2157984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2D3EE"/>
                </a:solidFill>
                <a:latin typeface="Segoe UI Semibold"/>
              </a:rPr>
              <a:t>SHA-256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9900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  <a:latin typeface="Segoe UI Semibold"/>
              </a:rPr>
              <a:t>CHAIN OF CUSTODY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6112" y="3355848"/>
            <a:ext cx="2103119" cy="0"/>
          </a:xfrm>
          <a:prstGeom prst="bentConnector3">
            <a:avLst/>
          </a:prstGeom>
          <a:ln w="12700">
            <a:solidFill>
              <a:srgbClr val="273A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96112" y="3474720"/>
            <a:ext cx="2157984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256-bit hash computed at the moment of extraction. One altered pixel breaks the hash — tampering is instantly provable.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4135" y="2057400"/>
            <a:ext cx="2615184" cy="2788920"/>
          </a:xfrm>
          <a:prstGeom prst="roundRect">
            <a:avLst>
              <a:gd name="adj" fmla="val 6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74135" y="2057400"/>
            <a:ext cx="2615184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2377440"/>
            <a:ext cx="2157984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34D399"/>
                </a:solidFill>
                <a:latin typeface="Segoe UI Semibold"/>
              </a:rPr>
              <a:t>BSA 2023 §63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9900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  <a:latin typeface="Segoe UI Semibold"/>
              </a:rPr>
              <a:t>AUTO-CERTIFICATES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30168" y="3355848"/>
            <a:ext cx="2103119" cy="0"/>
          </a:xfrm>
          <a:prstGeom prst="bentConnector3">
            <a:avLst/>
          </a:prstGeom>
          <a:ln w="12700">
            <a:solidFill>
              <a:srgbClr val="273A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30168" y="3474720"/>
            <a:ext cx="2157984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Two-part statutory certificate auto-populated with IMEI, MAC &amp; serials — mandatory for admissible secondary e-evidence in India.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2057400"/>
            <a:ext cx="2615184" cy="2788920"/>
          </a:xfrm>
          <a:prstGeom prst="roundRect">
            <a:avLst>
              <a:gd name="adj" fmla="val 6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2057400"/>
            <a:ext cx="2615184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2377440"/>
            <a:ext cx="2157984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59E0B"/>
                </a:solidFill>
                <a:latin typeface="Segoe UI Semibold"/>
              </a:rPr>
              <a:t>VICS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9900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  <a:latin typeface="Segoe UI Semibold"/>
              </a:rPr>
              <a:t>INTEROPERABILITY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64224" y="3355848"/>
            <a:ext cx="2103120" cy="0"/>
          </a:xfrm>
          <a:prstGeom prst="bentConnector3">
            <a:avLst/>
          </a:prstGeom>
          <a:ln w="12700">
            <a:solidFill>
              <a:srgbClr val="273A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64224" y="3474720"/>
            <a:ext cx="2157984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Native Project VIC JSON: shares SourceID, hashes (MD5/SHA-256/PhotoDNA) &amp; SAP grade with Cellebrite, Magnet, MSAB.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42247" y="2057400"/>
            <a:ext cx="2615184" cy="2788920"/>
          </a:xfrm>
          <a:prstGeom prst="roundRect">
            <a:avLst>
              <a:gd name="adj" fmla="val 6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42247" y="2057400"/>
            <a:ext cx="2615184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79" y="2377440"/>
            <a:ext cx="2157984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A78BFA"/>
                </a:solidFill>
                <a:latin typeface="Segoe UI Semibold"/>
              </a:rPr>
              <a:t>ECS Gating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79" y="29900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  <a:latin typeface="Segoe UI Semibold"/>
              </a:rPr>
              <a:t>HALLUCINATION CONTROL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098279" y="3355848"/>
            <a:ext cx="2103120" cy="0"/>
          </a:xfrm>
          <a:prstGeom prst="bentConnector3">
            <a:avLst/>
          </a:prstGeom>
          <a:ln w="12700">
            <a:solidFill>
              <a:srgbClr val="273A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098279" y="3474720"/>
            <a:ext cx="2157984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HERAM scores every AI claim vs source text; output below the judicial threshold is flagged or excluded automatically.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120640"/>
            <a:ext cx="10908792" cy="960120"/>
          </a:xfrm>
          <a:prstGeom prst="roundRect">
            <a:avLst>
              <a:gd name="adj" fmla="val 10000"/>
            </a:avLst>
          </a:prstGeom>
          <a:solidFill>
            <a:srgbClr val="1B2C4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120640"/>
            <a:ext cx="10424160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BD5E1"/>
                </a:solidFill>
                <a:latin typeface="Segoe UI"/>
              </a:rPr>
              <a:t>Every artifact carries a verifiable provenance trail — </a:t>
            </a:r>
            <a:r>
              <a:rPr sz="1250" b="1">
                <a:solidFill>
                  <a:srgbClr val="22D3EE"/>
                </a:solidFill>
                <a:latin typeface="Segoe UI Semibold"/>
              </a:rPr>
              <a:t>structurally unassailable under cross-examination.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AEGIS-X  ·  HACK-KP 2026  ·  Confidential — Authorized Agencies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932688"/>
            <a:ext cx="1280160" cy="0"/>
          </a:xfrm>
          <a:prstGeom prst="bentConnector3">
            <a:avLst/>
          </a:prstGeom>
          <a:ln w="381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Segoe UI Semibold"/>
              </a:rPr>
              <a:t>DEMO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Segoe UI Semibold"/>
              </a:rPr>
              <a:t>"Operation Sentinel"  ·  Case #KP-2026-0417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457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Fictional, 100% synthetic case data — no real identities or imagery.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3538728" cy="1600200"/>
          </a:xfrm>
          <a:prstGeom prst="roundRect">
            <a:avLst>
              <a:gd name="adj" fmla="val 6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2487168"/>
            <a:ext cx="914400" cy="1188720"/>
          </a:xfrm>
          <a:prstGeom prst="roundRect">
            <a:avLst>
              <a:gd name="adj" fmla="val 6000"/>
            </a:avLst>
          </a:prstGeom>
          <a:solidFill>
            <a:srgbClr val="1B2C4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50976" y="2615184"/>
            <a:ext cx="694944" cy="146304"/>
          </a:xfrm>
          <a:prstGeom prst="roundRect">
            <a:avLst>
              <a:gd name="adj" fmla="val 3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0976" y="2852928"/>
            <a:ext cx="694944" cy="91440"/>
          </a:xfrm>
          <a:prstGeom prst="roundRect">
            <a:avLst>
              <a:gd name="adj" fmla="val 40000"/>
            </a:avLst>
          </a:prstGeom>
          <a:solidFill>
            <a:srgbClr val="2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0976" y="3054096"/>
            <a:ext cx="694944" cy="91440"/>
          </a:xfrm>
          <a:prstGeom prst="roundRect">
            <a:avLst>
              <a:gd name="adj" fmla="val 40000"/>
            </a:avLst>
          </a:prstGeom>
          <a:solidFill>
            <a:srgbClr val="2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0976" y="3255264"/>
            <a:ext cx="694944" cy="91440"/>
          </a:xfrm>
          <a:prstGeom prst="roundRect">
            <a:avLst>
              <a:gd name="adj" fmla="val 40000"/>
            </a:avLst>
          </a:prstGeom>
          <a:solidFill>
            <a:srgbClr val="2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Ingest</a:t>
            </a:r>
          </a:p>
        </p:txBody>
      </p:sp>
      <p:sp>
        <p:nvSpPr>
          <p:cNvPr id="15" name="Oval 14"/>
          <p:cNvSpPr/>
          <p:nvPr/>
        </p:nvSpPr>
        <p:spPr>
          <a:xfrm>
            <a:off x="1920239" y="2468880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39" y="24688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A1426"/>
                </a:solidFill>
                <a:latin typeface="Segoe UI Semibol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2487168"/>
            <a:ext cx="161848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8FAFC"/>
                </a:solidFill>
                <a:latin typeface="Segoe UI Semibold"/>
              </a:rPr>
              <a:t>Ingest &amp; Triage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8" y="2944368"/>
            <a:ext cx="2075688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3 seized devices — 2.4 TB, 480k files — auto-triaged in 47 minutes.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5112" y="2286000"/>
            <a:ext cx="3538728" cy="1600200"/>
          </a:xfrm>
          <a:prstGeom prst="roundRect">
            <a:avLst>
              <a:gd name="adj" fmla="val 6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2487168"/>
            <a:ext cx="914400" cy="1188720"/>
          </a:xfrm>
          <a:prstGeom prst="roundRect">
            <a:avLst>
              <a:gd name="adj" fmla="val 6000"/>
            </a:avLst>
          </a:prstGeom>
          <a:solidFill>
            <a:srgbClr val="1B2C4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36008" y="2615184"/>
            <a:ext cx="694944" cy="14630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36008" y="2852928"/>
            <a:ext cx="694944" cy="91440"/>
          </a:xfrm>
          <a:prstGeom prst="roundRect">
            <a:avLst>
              <a:gd name="adj" fmla="val 40000"/>
            </a:avLst>
          </a:prstGeom>
          <a:solidFill>
            <a:srgbClr val="2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36008" y="3054096"/>
            <a:ext cx="694944" cy="91440"/>
          </a:xfrm>
          <a:prstGeom prst="roundRect">
            <a:avLst>
              <a:gd name="adj" fmla="val 40000"/>
            </a:avLst>
          </a:prstGeom>
          <a:solidFill>
            <a:srgbClr val="2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36008" y="3255264"/>
            <a:ext cx="694944" cy="91440"/>
          </a:xfrm>
          <a:prstGeom prst="roundRect">
            <a:avLst>
              <a:gd name="adj" fmla="val 40000"/>
            </a:avLst>
          </a:prstGeom>
          <a:solidFill>
            <a:srgbClr val="2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45643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Dashboard</a:t>
            </a:r>
          </a:p>
        </p:txBody>
      </p:sp>
      <p:sp>
        <p:nvSpPr>
          <p:cNvPr id="26" name="Oval 25"/>
          <p:cNvSpPr/>
          <p:nvPr/>
        </p:nvSpPr>
        <p:spPr>
          <a:xfrm>
            <a:off x="5605272" y="2468880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05272" y="24688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A1426"/>
                </a:solidFill>
                <a:latin typeface="Segoe UI Semibold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2487168"/>
            <a:ext cx="161848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8FAFC"/>
                </a:solidFill>
                <a:latin typeface="Segoe UI Semibold"/>
              </a:rPr>
              <a:t>Risk Queue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2944368"/>
            <a:ext cx="2075688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312 items flagged · 14 high-risk · 3 synthetic detected, severity-sorted.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10144" y="2286000"/>
            <a:ext cx="3538728" cy="1600200"/>
          </a:xfrm>
          <a:prstGeom prst="roundRect">
            <a:avLst>
              <a:gd name="adj" fmla="val 6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11312" y="2487168"/>
            <a:ext cx="914400" cy="1188720"/>
          </a:xfrm>
          <a:prstGeom prst="roundRect">
            <a:avLst>
              <a:gd name="adj" fmla="val 6000"/>
            </a:avLst>
          </a:prstGeom>
          <a:solidFill>
            <a:srgbClr val="1B2C4C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21040" y="2615184"/>
            <a:ext cx="694944" cy="146304"/>
          </a:xfrm>
          <a:prstGeom prst="roundRect">
            <a:avLst>
              <a:gd name="adj" fmla="val 3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321040" y="2852928"/>
            <a:ext cx="694944" cy="91440"/>
          </a:xfrm>
          <a:prstGeom prst="roundRect">
            <a:avLst>
              <a:gd name="adj" fmla="val 40000"/>
            </a:avLst>
          </a:prstGeom>
          <a:solidFill>
            <a:srgbClr val="2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21040" y="3054096"/>
            <a:ext cx="694944" cy="91440"/>
          </a:xfrm>
          <a:prstGeom prst="roundRect">
            <a:avLst>
              <a:gd name="adj" fmla="val 40000"/>
            </a:avLst>
          </a:prstGeom>
          <a:solidFill>
            <a:srgbClr val="2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21040" y="3255264"/>
            <a:ext cx="694944" cy="91440"/>
          </a:xfrm>
          <a:prstGeom prst="roundRect">
            <a:avLst>
              <a:gd name="adj" fmla="val 40000"/>
            </a:avLst>
          </a:prstGeom>
          <a:solidFill>
            <a:srgbClr val="2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1312" y="345643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Entity Graph</a:t>
            </a:r>
          </a:p>
        </p:txBody>
      </p:sp>
      <p:sp>
        <p:nvSpPr>
          <p:cNvPr id="37" name="Oval 36"/>
          <p:cNvSpPr/>
          <p:nvPr/>
        </p:nvSpPr>
        <p:spPr>
          <a:xfrm>
            <a:off x="9290304" y="2468880"/>
            <a:ext cx="384048" cy="38404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90304" y="24688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A1426"/>
                </a:solidFill>
                <a:latin typeface="Segoe UI Semibold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93224" y="2487168"/>
            <a:ext cx="161848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8FAFC"/>
                </a:solidFill>
                <a:latin typeface="Segoe UI Semibold"/>
              </a:rPr>
              <a:t>Hidden Link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08592" y="2944368"/>
            <a:ext cx="2075688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Graph reveals a 3rd suspect via crypto peel-chain + shared hash.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4050791"/>
            <a:ext cx="3538728" cy="1600200"/>
          </a:xfrm>
          <a:prstGeom prst="roundRect">
            <a:avLst>
              <a:gd name="adj" fmla="val 6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7" y="4251959"/>
            <a:ext cx="914400" cy="1188720"/>
          </a:xfrm>
          <a:prstGeom prst="roundRect">
            <a:avLst>
              <a:gd name="adj" fmla="val 6000"/>
            </a:avLst>
          </a:prstGeom>
          <a:solidFill>
            <a:srgbClr val="1B2C4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50976" y="4379976"/>
            <a:ext cx="694944" cy="146304"/>
          </a:xfrm>
          <a:prstGeom prst="roundRect">
            <a:avLst>
              <a:gd name="adj" fmla="val 3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50976" y="4617720"/>
            <a:ext cx="694944" cy="91440"/>
          </a:xfrm>
          <a:prstGeom prst="roundRect">
            <a:avLst>
              <a:gd name="adj" fmla="val 40000"/>
            </a:avLst>
          </a:prstGeom>
          <a:solidFill>
            <a:srgbClr val="2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50976" y="4818888"/>
            <a:ext cx="694944" cy="91440"/>
          </a:xfrm>
          <a:prstGeom prst="roundRect">
            <a:avLst>
              <a:gd name="adj" fmla="val 40000"/>
            </a:avLst>
          </a:prstGeom>
          <a:solidFill>
            <a:srgbClr val="2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50976" y="5020056"/>
            <a:ext cx="694944" cy="91440"/>
          </a:xfrm>
          <a:prstGeom prst="roundRect">
            <a:avLst>
              <a:gd name="adj" fmla="val 40000"/>
            </a:avLst>
          </a:prstGeom>
          <a:solidFill>
            <a:srgbClr val="2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7" y="5221224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Timeline</a:t>
            </a:r>
          </a:p>
        </p:txBody>
      </p:sp>
      <p:sp>
        <p:nvSpPr>
          <p:cNvPr id="48" name="Oval 47"/>
          <p:cNvSpPr/>
          <p:nvPr/>
        </p:nvSpPr>
        <p:spPr>
          <a:xfrm>
            <a:off x="1920239" y="4233672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20239" y="42336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A1426"/>
                </a:solidFill>
                <a:latin typeface="Segoe UI Semibold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23160" y="4251959"/>
            <a:ext cx="161848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8FAFC"/>
                </a:solidFill>
                <a:latin typeface="Segoe UI Semibold"/>
              </a:rPr>
              <a:t>Chronos Engine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38528" y="4709159"/>
            <a:ext cx="2075688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Reconstructs grooming → production → distribution across devices.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25112" y="4050791"/>
            <a:ext cx="3538728" cy="1600200"/>
          </a:xfrm>
          <a:prstGeom prst="roundRect">
            <a:avLst>
              <a:gd name="adj" fmla="val 6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526280" y="4251959"/>
            <a:ext cx="914400" cy="1188720"/>
          </a:xfrm>
          <a:prstGeom prst="roundRect">
            <a:avLst>
              <a:gd name="adj" fmla="val 6000"/>
            </a:avLst>
          </a:prstGeom>
          <a:solidFill>
            <a:srgbClr val="1B2C4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636008" y="4379976"/>
            <a:ext cx="694944" cy="146304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636008" y="4617720"/>
            <a:ext cx="694944" cy="91440"/>
          </a:xfrm>
          <a:prstGeom prst="roundRect">
            <a:avLst>
              <a:gd name="adj" fmla="val 40000"/>
            </a:avLst>
          </a:prstGeom>
          <a:solidFill>
            <a:srgbClr val="2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636008" y="4818888"/>
            <a:ext cx="694944" cy="91440"/>
          </a:xfrm>
          <a:prstGeom prst="roundRect">
            <a:avLst>
              <a:gd name="adj" fmla="val 40000"/>
            </a:avLst>
          </a:prstGeom>
          <a:solidFill>
            <a:srgbClr val="2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636008" y="5020056"/>
            <a:ext cx="694944" cy="91440"/>
          </a:xfrm>
          <a:prstGeom prst="roundRect">
            <a:avLst>
              <a:gd name="adj" fmla="val 40000"/>
            </a:avLst>
          </a:prstGeom>
          <a:solidFill>
            <a:srgbClr val="2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26280" y="5221224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Ask AEGIS</a:t>
            </a:r>
          </a:p>
        </p:txBody>
      </p:sp>
      <p:sp>
        <p:nvSpPr>
          <p:cNvPr id="59" name="Oval 58"/>
          <p:cNvSpPr/>
          <p:nvPr/>
        </p:nvSpPr>
        <p:spPr>
          <a:xfrm>
            <a:off x="5605272" y="4233672"/>
            <a:ext cx="384048" cy="38404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05272" y="42336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A1426"/>
                </a:solidFill>
                <a:latin typeface="Segoe UI Semibold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08192" y="4251959"/>
            <a:ext cx="161848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8FAFC"/>
                </a:solidFill>
                <a:latin typeface="Segoe UI Semibold"/>
              </a:rPr>
              <a:t>RAG Query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23560" y="4709159"/>
            <a:ext cx="2075688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"Show all comms near Riverside Park in March" → cited answer.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10144" y="4050791"/>
            <a:ext cx="3538728" cy="1600200"/>
          </a:xfrm>
          <a:prstGeom prst="roundRect">
            <a:avLst>
              <a:gd name="adj" fmla="val 6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211312" y="4251959"/>
            <a:ext cx="914400" cy="1188720"/>
          </a:xfrm>
          <a:prstGeom prst="roundRect">
            <a:avLst>
              <a:gd name="adj" fmla="val 6000"/>
            </a:avLst>
          </a:prstGeom>
          <a:solidFill>
            <a:srgbClr val="1B2C4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321040" y="4379976"/>
            <a:ext cx="694944" cy="146304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321040" y="4617720"/>
            <a:ext cx="694944" cy="91440"/>
          </a:xfrm>
          <a:prstGeom prst="roundRect">
            <a:avLst>
              <a:gd name="adj" fmla="val 40000"/>
            </a:avLst>
          </a:prstGeom>
          <a:solidFill>
            <a:srgbClr val="2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321040" y="4818888"/>
            <a:ext cx="694944" cy="91440"/>
          </a:xfrm>
          <a:prstGeom prst="roundRect">
            <a:avLst>
              <a:gd name="adj" fmla="val 40000"/>
            </a:avLst>
          </a:prstGeom>
          <a:solidFill>
            <a:srgbClr val="2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321040" y="5020056"/>
            <a:ext cx="694944" cy="91440"/>
          </a:xfrm>
          <a:prstGeom prst="roundRect">
            <a:avLst>
              <a:gd name="adj" fmla="val 40000"/>
            </a:avLst>
          </a:prstGeom>
          <a:solidFill>
            <a:srgbClr val="2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11312" y="5221224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Report</a:t>
            </a:r>
          </a:p>
        </p:txBody>
      </p:sp>
      <p:sp>
        <p:nvSpPr>
          <p:cNvPr id="70" name="Oval 69"/>
          <p:cNvSpPr/>
          <p:nvPr/>
        </p:nvSpPr>
        <p:spPr>
          <a:xfrm>
            <a:off x="9290304" y="4233672"/>
            <a:ext cx="384048" cy="38404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90304" y="42336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A1426"/>
                </a:solidFill>
                <a:latin typeface="Segoe UI Semibold"/>
              </a:rPr>
              <a:t>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93224" y="4251959"/>
            <a:ext cx="161848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8FAFC"/>
                </a:solidFill>
                <a:latin typeface="Segoe UI Semibold"/>
              </a:rPr>
              <a:t>§63 Export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08592" y="4709159"/>
            <a:ext cx="2075688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One-click court report with §63 certificate + SHA-256 manifest.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AEGIS-X  ·  HACK-KP 2026  ·  Confidential — Authorized Agencies Only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932688"/>
            <a:ext cx="1280160" cy="0"/>
          </a:xfrm>
          <a:prstGeom prst="bentConnector3">
            <a:avLst/>
          </a:prstGeom>
          <a:ln w="381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Segoe UI Semibold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Segoe UI Semibold"/>
              </a:rPr>
              <a:t>Faster justice. Safer investigators.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457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538728" cy="2651760"/>
          </a:xfrm>
          <a:prstGeom prst="roundRect">
            <a:avLst>
              <a:gd name="adj" fmla="val 6000"/>
            </a:avLst>
          </a:prstGeom>
          <a:solidFill>
            <a:srgbClr val="13213C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3538728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34D399"/>
                </a:solidFill>
                <a:latin typeface="Segoe UI Semibold"/>
              </a:rPr>
              <a:t>~91%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2990088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8FAFC"/>
                </a:solidFill>
                <a:latin typeface="Segoe UI Semibold"/>
              </a:rPr>
              <a:t>less traumatic
content viewed by humans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4114800"/>
            <a:ext cx="2624328" cy="0"/>
          </a:xfrm>
          <a:prstGeom prst="bentConnector3">
            <a:avLst/>
          </a:prstGeom>
          <a:ln w="12700">
            <a:solidFill>
              <a:srgbClr val="273A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4206240"/>
            <a:ext cx="299008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AI absorbs the psychological toxicity; examiners read clinical descriptions &amp; blurred tiles.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148840"/>
            <a:ext cx="3538728" cy="2651760"/>
          </a:xfrm>
          <a:prstGeom prst="roundRect">
            <a:avLst>
              <a:gd name="adj" fmla="val 6000"/>
            </a:avLst>
          </a:prstGeom>
          <a:solidFill>
            <a:srgbClr val="13213C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2514600"/>
            <a:ext cx="3538728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22D3EE"/>
                </a:solidFill>
                <a:latin typeface="Segoe UI Semibold"/>
              </a:rPr>
              <a:t>47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566160"/>
            <a:ext cx="2990088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8FAFC"/>
                </a:solidFill>
                <a:latin typeface="Segoe UI Semibold"/>
              </a:rPr>
              <a:t>vs  9 months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82312" y="4114800"/>
            <a:ext cx="2624328" cy="0"/>
          </a:xfrm>
          <a:prstGeom prst="bentConnector3">
            <a:avLst/>
          </a:prstGeom>
          <a:ln w="12700">
            <a:solidFill>
              <a:srgbClr val="273A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99432" y="4206240"/>
            <a:ext cx="299008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Auto-triage of a 2.4 TB, 480k-file case — a step-change in throughput.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2148840"/>
            <a:ext cx="3538728" cy="2651760"/>
          </a:xfrm>
          <a:prstGeom prst="roundRect">
            <a:avLst>
              <a:gd name="adj" fmla="val 6000"/>
            </a:avLst>
          </a:prstGeom>
          <a:solidFill>
            <a:srgbClr val="13213C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0144" y="2514600"/>
            <a:ext cx="3538728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F59E0B"/>
                </a:solidFill>
                <a:latin typeface="Segoe UI Semibold"/>
              </a:rPr>
              <a:t>72 hrs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566160"/>
            <a:ext cx="2990088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8FAFC"/>
                </a:solidFill>
                <a:latin typeface="Segoe UI Semibold"/>
              </a:rPr>
              <a:t>victim safeguarded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67344" y="4114800"/>
            <a:ext cx="2624328" cy="0"/>
          </a:xfrm>
          <a:prstGeom prst="bentConnector3">
            <a:avLst/>
          </a:prstGeom>
          <a:ln w="12700">
            <a:solidFill>
              <a:srgbClr val="273A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84464" y="4206240"/>
            <a:ext cx="299008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Operation Sentinel outcome vs a typical multi-month timeline.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74920"/>
            <a:ext cx="10908792" cy="1005840"/>
          </a:xfrm>
          <a:prstGeom prst="roundRect">
            <a:avLst>
              <a:gd name="adj" fmla="val 10000"/>
            </a:avLst>
          </a:prstGeom>
          <a:solidFill>
            <a:srgbClr val="1B2C4C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074920"/>
            <a:ext cx="10424160" cy="1005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CBD5E1"/>
                </a:solidFill>
                <a:latin typeface="Segoe UI"/>
              </a:rPr>
              <a:t>Investigator wellbeing is a first-class design goal — </a:t>
            </a:r>
            <a:r>
              <a:rPr sz="1350" b="1">
                <a:solidFill>
                  <a:srgbClr val="A78BFA"/>
                </a:solidFill>
                <a:latin typeface="Segoe UI Semibold"/>
              </a:rPr>
              <a:t>sustainable teams clear backlogs, and cleared backlogs rescue children sooner.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AEGIS-X  ·  HACK-KP 2026  ·  Confidential — Authorized Agencies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932688"/>
            <a:ext cx="1280160" cy="0"/>
          </a:xfrm>
          <a:prstGeom prst="bentConnector3">
            <a:avLst/>
          </a:prstGeom>
          <a:ln w="381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Segoe UI Semibold"/>
              </a:rPr>
              <a:t>DIFFERENTIATORS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Segoe UI Semibold"/>
              </a:rPr>
              <a:t>Why AEGIS-X, not the status quo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457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011680"/>
          <a:ext cx="1090879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68880"/>
                <a:gridCol w="2651760"/>
                <a:gridCol w="2724912"/>
              </a:tblGrid>
              <a:tr h="56823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8FAFC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 marL="128016" marR="91440" marT="45720" marB="45720" anchor="ctr">
                    <a:solidFill>
                      <a:srgbClr val="1B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8FAFC"/>
                          </a:solidFill>
                          <a:latin typeface="Segoe UI"/>
                        </a:rPr>
                        <a:t>Hash tools
(PhotoDNA / VIC)</a:t>
                      </a:r>
                    </a:p>
                  </a:txBody>
                  <a:tcPr marL="128016" marR="91440" marT="45720" marB="45720" anchor="ctr">
                    <a:solidFill>
                      <a:srgbClr val="1B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8FAFC"/>
                          </a:solidFill>
                          <a:latin typeface="Segoe UI"/>
                        </a:rPr>
                        <a:t>Forensic suites
(Cellebrite / Griffeye)</a:t>
                      </a:r>
                    </a:p>
                  </a:txBody>
                  <a:tcPr marL="128016" marR="91440" marT="45720" marB="45720" anchor="ctr">
                    <a:solidFill>
                      <a:srgbClr val="1B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A1426"/>
                          </a:solidFill>
                          <a:latin typeface="Segoe UI"/>
                        </a:rPr>
                        <a:t>AEGIS-X</a:t>
                      </a:r>
                    </a:p>
                  </a:txBody>
                  <a:tcPr marL="128016" marR="91440" marT="45720" marB="45720" anchor="ctr">
                    <a:solidFill>
                      <a:srgbClr val="0E7490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8FAFC"/>
                          </a:solidFill>
                          <a:latin typeface="Segoe UI"/>
                        </a:rPr>
                        <a:t>Known CSAM match</a:t>
                      </a:r>
                    </a:p>
                  </a:txBody>
                  <a:tcPr marL="128016" marR="91440" marT="45720" marB="45720" anchor="ctr">
                    <a:solidFill>
                      <a:srgbClr val="1B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4D399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28016" marR="91440" marT="45720" marB="45720" anchor="ctr">
                    <a:solidFill>
                      <a:srgbClr val="132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4D399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28016" marR="91440" marT="45720" marB="45720" anchor="ctr">
                    <a:solidFill>
                      <a:srgbClr val="132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28016" marR="91440" marT="45720" marB="45720" anchor="ctr">
                    <a:solidFill>
                      <a:srgbClr val="0F2B33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8FAFC"/>
                          </a:solidFill>
                          <a:latin typeface="Segoe UI"/>
                        </a:rPr>
                        <a:t>Zero-day / novel content</a:t>
                      </a:r>
                    </a:p>
                  </a:txBody>
                  <a:tcPr marL="128016" marR="91440" marT="45720" marB="45720" anchor="ctr">
                    <a:solidFill>
                      <a:srgbClr val="1B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EF4444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128016" marR="91440" marT="45720" marB="45720" anchor="ctr">
                    <a:solidFill>
                      <a:srgbClr val="132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F59E0B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 marL="128016" marR="91440" marT="45720" marB="45720" anchor="ctr">
                    <a:solidFill>
                      <a:srgbClr val="132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Yes — CNN+ViT semantics</a:t>
                      </a:r>
                    </a:p>
                  </a:txBody>
                  <a:tcPr marL="128016" marR="91440" marT="45720" marB="45720" anchor="ctr">
                    <a:solidFill>
                      <a:srgbClr val="0F2B33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8FAFC"/>
                          </a:solidFill>
                          <a:latin typeface="Segoe UI"/>
                        </a:rPr>
                        <a:t>AI-generated / deepfake</a:t>
                      </a:r>
                    </a:p>
                  </a:txBody>
                  <a:tcPr marL="128016" marR="91440" marT="45720" marB="45720" anchor="ctr">
                    <a:solidFill>
                      <a:srgbClr val="1B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EF4444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128016" marR="91440" marT="45720" marB="45720" anchor="ctr">
                    <a:solidFill>
                      <a:srgbClr val="132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F59E0B"/>
                          </a:solidFill>
                          <a:latin typeface="Segoe UI"/>
                        </a:rPr>
                        <a:t>Limited</a:t>
                      </a:r>
                    </a:p>
                  </a:txBody>
                  <a:tcPr marL="128016" marR="91440" marT="45720" marB="45720" anchor="ctr">
                    <a:solidFill>
                      <a:srgbClr val="132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Yes — 3-stream + optics</a:t>
                      </a:r>
                    </a:p>
                  </a:txBody>
                  <a:tcPr marL="128016" marR="91440" marT="45720" marB="45720" anchor="ctr">
                    <a:solidFill>
                      <a:srgbClr val="0F2B33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8FAFC"/>
                          </a:solidFill>
                          <a:latin typeface="Segoe UI"/>
                        </a:rPr>
                        <a:t>Cross-source fusion graph</a:t>
                      </a:r>
                    </a:p>
                  </a:txBody>
                  <a:tcPr marL="128016" marR="91440" marT="45720" marB="45720" anchor="ctr">
                    <a:solidFill>
                      <a:srgbClr val="1B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EF4444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128016" marR="91440" marT="45720" marB="45720" anchor="ctr">
                    <a:solidFill>
                      <a:srgbClr val="132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F59E0B"/>
                          </a:solidFill>
                          <a:latin typeface="Segoe UI"/>
                        </a:rPr>
                        <a:t>Siloed</a:t>
                      </a:r>
                    </a:p>
                  </a:txBody>
                  <a:tcPr marL="128016" marR="91440" marT="45720" marB="45720" anchor="ctr">
                    <a:solidFill>
                      <a:srgbClr val="132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Yes — one TAGNN graph</a:t>
                      </a:r>
                    </a:p>
                  </a:txBody>
                  <a:tcPr marL="128016" marR="91440" marT="45720" marB="45720" anchor="ctr">
                    <a:solidFill>
                      <a:srgbClr val="0F2B33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8FAFC"/>
                          </a:solidFill>
                          <a:latin typeface="Segoe UI"/>
                        </a:rPr>
                        <a:t>Court-ready AI output</a:t>
                      </a:r>
                    </a:p>
                  </a:txBody>
                  <a:tcPr marL="128016" marR="91440" marT="45720" marB="45720" anchor="ctr">
                    <a:solidFill>
                      <a:srgbClr val="1B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EF4444"/>
                          </a:solidFill>
                          <a:latin typeface="Segoe UI"/>
                        </a:rPr>
                        <a:t>N/A</a:t>
                      </a:r>
                    </a:p>
                  </a:txBody>
                  <a:tcPr marL="128016" marR="91440" marT="45720" marB="45720" anchor="ctr">
                    <a:solidFill>
                      <a:srgbClr val="132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F59E0B"/>
                          </a:solidFill>
                          <a:latin typeface="Segoe UI"/>
                        </a:rPr>
                        <a:t>Manual</a:t>
                      </a:r>
                    </a:p>
                  </a:txBody>
                  <a:tcPr marL="128016" marR="91440" marT="45720" marB="45720" anchor="ctr">
                    <a:solidFill>
                      <a:srgbClr val="132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Yes — §63 + ECS gating</a:t>
                      </a:r>
                    </a:p>
                  </a:txBody>
                  <a:tcPr marL="128016" marR="91440" marT="45720" marB="45720" anchor="ctr">
                    <a:solidFill>
                      <a:srgbClr val="0F2B33"/>
                    </a:solidFill>
                  </a:tcPr>
                </a:tc>
              </a:tr>
              <a:tr h="56823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8FAFC"/>
                          </a:solidFill>
                          <a:latin typeface="Segoe UI"/>
                        </a:rPr>
                        <a:t>Investigator wellbeing</a:t>
                      </a:r>
                    </a:p>
                  </a:txBody>
                  <a:tcPr marL="128016" marR="91440" marT="45720" marB="45720" anchor="ctr">
                    <a:solidFill>
                      <a:srgbClr val="1B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EF4444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128016" marR="91440" marT="45720" marB="45720" anchor="ctr">
                    <a:solidFill>
                      <a:srgbClr val="132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F59E0B"/>
                          </a:solidFill>
                          <a:latin typeface="Segoe UI"/>
                        </a:rPr>
                        <a:t>Basic blur</a:t>
                      </a:r>
                    </a:p>
                  </a:txBody>
                  <a:tcPr marL="128016" marR="91440" marT="45720" marB="45720" anchor="ctr">
                    <a:solidFill>
                      <a:srgbClr val="132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Blur-by-default + XAI</a:t>
                      </a:r>
                    </a:p>
                  </a:txBody>
                  <a:tcPr marL="128016" marR="91440" marT="45720" marB="45720" anchor="ctr">
                    <a:solidFill>
                      <a:srgbClr val="0F2B3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AEGIS-X  ·  HACK-KP 2026  ·  Confidential — Authorized Agencies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932688"/>
            <a:ext cx="1280160" cy="0"/>
          </a:xfrm>
          <a:prstGeom prst="bentConnector3">
            <a:avLst/>
          </a:prstGeom>
          <a:ln w="381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Segoe UI Semibold"/>
              </a:rPr>
              <a:t>THE WHITESPACE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Segoe UI Semibold"/>
              </a:rPr>
              <a:t>Everyone owns one lane. The fusion box is empty.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457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556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BD5E1"/>
                </a:solidFill>
                <a:latin typeface="Segoe UI"/>
              </a:rPr>
              <a:t>Incumbents each dominate a single domain. Nobody owns the </a:t>
            </a:r>
            <a:r>
              <a:rPr sz="1250" b="1">
                <a:solidFill>
                  <a:srgbClr val="22D3EE"/>
                </a:solidFill>
                <a:latin typeface="Segoe UI Semibold"/>
              </a:rPr>
              <a:t>combination</a:t>
            </a:r>
            <a:r>
              <a:rPr sz="1250" b="0">
                <a:solidFill>
                  <a:srgbClr val="CBD5E1"/>
                </a:solidFill>
                <a:latin typeface="Segoe UI"/>
              </a:rPr>
              <a:t> — sovereign, agentic, court-provable fusion.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10881360" cy="530352"/>
          </a:xfrm>
          <a:prstGeom prst="roundRect">
            <a:avLst>
              <a:gd name="adj" fmla="val 9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331720"/>
            <a:ext cx="118872" cy="5303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331720"/>
            <a:ext cx="320040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8FAFC"/>
                </a:solidFill>
                <a:latin typeface="Segoe UI Semibold"/>
              </a:rPr>
              <a:t>Cellebrite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331720"/>
            <a:ext cx="329184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Devices &amp; mobile extraction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90087"/>
            <a:ext cx="10881360" cy="530352"/>
          </a:xfrm>
          <a:prstGeom prst="roundRect">
            <a:avLst>
              <a:gd name="adj" fmla="val 9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990087"/>
            <a:ext cx="118872" cy="53035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990087"/>
            <a:ext cx="320040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8FAFC"/>
                </a:solidFill>
                <a:latin typeface="Segoe UI Semibold"/>
              </a:rPr>
              <a:t>Chainalysis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990087"/>
            <a:ext cx="329184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Cryptocurrency tracing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48456"/>
            <a:ext cx="10881360" cy="530352"/>
          </a:xfrm>
          <a:prstGeom prst="roundRect">
            <a:avLst>
              <a:gd name="adj" fmla="val 9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648456"/>
            <a:ext cx="118872" cy="53035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648456"/>
            <a:ext cx="320040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8FAFC"/>
                </a:solidFill>
                <a:latin typeface="Segoe UI Semibold"/>
              </a:rPr>
              <a:t>Clearview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648456"/>
            <a:ext cx="329184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Face recognition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306824"/>
            <a:ext cx="10881360" cy="530352"/>
          </a:xfrm>
          <a:prstGeom prst="roundRect">
            <a:avLst>
              <a:gd name="adj" fmla="val 9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306824"/>
            <a:ext cx="118872" cy="5303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306824"/>
            <a:ext cx="320040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8FAFC"/>
                </a:solidFill>
                <a:latin typeface="Segoe UI Semibold"/>
              </a:rPr>
              <a:t>Palantir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306824"/>
            <a:ext cx="329184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Data ontology / fusion 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65192"/>
            <a:ext cx="10881360" cy="530352"/>
          </a:xfrm>
          <a:prstGeom prst="roundRect">
            <a:avLst>
              <a:gd name="adj" fmla="val 9000"/>
            </a:avLst>
          </a:prstGeom>
          <a:solidFill>
            <a:srgbClr val="13213C"/>
          </a:solidFill>
          <a:ln w="12700">
            <a:solidFill>
              <a:srgbClr val="2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965192"/>
            <a:ext cx="118872" cy="53035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4965192"/>
            <a:ext cx="320040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8FAFC"/>
                </a:solidFill>
                <a:latin typeface="Segoe UI Semibold"/>
              </a:rPr>
              <a:t>Thorn / PhotoDNA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965192"/>
            <a:ext cx="329184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Known-hash matching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2304288"/>
            <a:ext cx="1417320" cy="3218687"/>
          </a:xfrm>
          <a:prstGeom prst="roundRect">
            <a:avLst>
              <a:gd name="adj" fmla="val 6000"/>
            </a:avLst>
          </a:prstGeom>
          <a:solidFill>
            <a:srgbClr val="0E7490"/>
          </a:solidFill>
          <a:ln w="285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3410711"/>
            <a:ext cx="1417320" cy="1097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8FAFC"/>
                </a:solidFill>
                <a:latin typeface="Segoe UI Semibold"/>
              </a:rPr>
              <a:t>AEGIS-X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0A1426"/>
                </a:solidFill>
                <a:latin typeface="Segoe UI Semibold"/>
              </a:rPr>
              <a:t>FUSION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577840"/>
            <a:ext cx="10908792" cy="658368"/>
          </a:xfrm>
          <a:prstGeom prst="roundRect">
            <a:avLst>
              <a:gd name="adj" fmla="val 12000"/>
            </a:avLst>
          </a:prstGeom>
          <a:solidFill>
            <a:srgbClr val="1B2C4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577840"/>
            <a:ext cx="10424160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59E0B"/>
                </a:solidFill>
                <a:latin typeface="Segoe UI Semibold"/>
              </a:rPr>
              <a:t>The empty box: </a:t>
            </a:r>
            <a:r>
              <a:rPr sz="1150" b="1">
                <a:solidFill>
                  <a:srgbClr val="F8FAFC"/>
                </a:solidFill>
                <a:latin typeface="Segoe UI Semibold"/>
              </a:rPr>
              <a:t>Sovereign + Agentic + Court-Provable Fusion.  </a:t>
            </a:r>
            <a:r>
              <a:rPr sz="1100" b="0">
                <a:solidFill>
                  <a:srgbClr val="94A3B8"/>
                </a:solidFill>
                <a:latin typeface="Segoe UI"/>
              </a:rPr>
              <a:t>Cellebrite shipped agentic AI in Guardian (2025) — the race is on; the fusion box is still empty.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AEGIS-X  ·  HACK-KP 2026  ·  Confidential — Authorized Agencies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932688"/>
            <a:ext cx="1280160" cy="0"/>
          </a:xfrm>
          <a:prstGeom prst="bentConnector3">
            <a:avLst/>
          </a:prstGeom>
          <a:ln w="381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Segoe UI Semibold"/>
              </a:rPr>
              <a:t>THE PROVENANCE SPINE · THE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Segoe UI Semibold"/>
              </a:rPr>
              <a:t>Competitors ask courts for trust. We hand them proof.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457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BD5E1"/>
                </a:solidFill>
                <a:latin typeface="Segoe UI"/>
              </a:rPr>
              <a:t>Every AI claim is compiled into a symbolic derivation where every leaf is a hash-sealed exhibit — the only court-provable AI reasoning chain in the category.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965960" cy="1783080"/>
          </a:xfrm>
          <a:prstGeom prst="roundRect">
            <a:avLst>
              <a:gd name="adj" fmla="val 7000"/>
            </a:avLst>
          </a:prstGeom>
          <a:solidFill>
            <a:srgbClr val="13213C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6172" y="2807208"/>
            <a:ext cx="493776" cy="493776"/>
          </a:xfrm>
          <a:prstGeom prst="ellipse">
            <a:avLst/>
          </a:prstGeom>
          <a:noFill/>
          <a:ln w="222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6172" y="280720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342900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8FAFC"/>
                </a:solidFill>
                <a:latin typeface="Segoe UI Semibold"/>
              </a:rPr>
              <a:t>AI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867912"/>
            <a:ext cx="17465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claim(fact, rule,
evidence, model, conf.)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24327" y="3497580"/>
            <a:ext cx="219457" cy="0"/>
          </a:xfrm>
          <a:prstGeom prst="bentConnector3">
            <a:avLst/>
          </a:prstGeom>
          <a:ln w="28575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2724912" y="3424428"/>
            <a:ext cx="146304" cy="146304"/>
          </a:xfrm>
          <a:prstGeom prst="triangl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62072" y="2606040"/>
            <a:ext cx="1965960" cy="1783080"/>
          </a:xfrm>
          <a:prstGeom prst="roundRect">
            <a:avLst>
              <a:gd name="adj" fmla="val 7000"/>
            </a:avLst>
          </a:prstGeom>
          <a:solidFill>
            <a:srgbClr val="13213C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98164" y="2807208"/>
            <a:ext cx="493776" cy="493776"/>
          </a:xfrm>
          <a:prstGeom prst="ellipse">
            <a:avLst/>
          </a:prstGeom>
          <a:noFill/>
          <a:ln w="222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8164" y="280720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A78BFA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3512" y="342900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8FAFC"/>
                </a:solidFill>
                <a:latin typeface="Segoe UI Semibold"/>
              </a:rPr>
              <a:t>Statute 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867912"/>
            <a:ext cx="17465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POCSO §14 —
"production"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46319" y="3497580"/>
            <a:ext cx="219457" cy="0"/>
          </a:xfrm>
          <a:prstGeom prst="bentConnector3">
            <a:avLst/>
          </a:prstGeom>
          <a:ln w="28575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4946903" y="3424428"/>
            <a:ext cx="146304" cy="146304"/>
          </a:xfrm>
          <a:prstGeom prst="triangl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84064" y="2606040"/>
            <a:ext cx="1965960" cy="1783080"/>
          </a:xfrm>
          <a:prstGeom prst="roundRect">
            <a:avLst>
              <a:gd name="adj" fmla="val 7000"/>
            </a:avLst>
          </a:prstGeom>
          <a:solidFill>
            <a:srgbClr val="13213C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20156" y="2807208"/>
            <a:ext cx="493776" cy="493776"/>
          </a:xfrm>
          <a:prstGeom prst="ellipse">
            <a:avLst/>
          </a:prstGeom>
          <a:noFill/>
          <a:ln w="222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20156" y="280720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Segoe UI Semibol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5503" y="342900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8FAFC"/>
                </a:solidFill>
                <a:latin typeface="Segoe UI Semibold"/>
              </a:rPr>
              <a:t>Evidence 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93792" y="3867912"/>
            <a:ext cx="17465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FILE-2291 ·
DEV-01 (EXIF match)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68311" y="3497580"/>
            <a:ext cx="219457" cy="0"/>
          </a:xfrm>
          <a:prstGeom prst="bentConnector3">
            <a:avLst/>
          </a:prstGeom>
          <a:ln w="28575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7168895" y="3424428"/>
            <a:ext cx="146304" cy="146304"/>
          </a:xfrm>
          <a:prstGeom prst="triangl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06055" y="2606040"/>
            <a:ext cx="1965960" cy="1783080"/>
          </a:xfrm>
          <a:prstGeom prst="roundRect">
            <a:avLst>
              <a:gd name="adj" fmla="val 7000"/>
            </a:avLst>
          </a:prstGeom>
          <a:solidFill>
            <a:srgbClr val="13213C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42148" y="2807208"/>
            <a:ext cx="493776" cy="493776"/>
          </a:xfrm>
          <a:prstGeom prst="ellipse">
            <a:avLst/>
          </a:prstGeom>
          <a:noFill/>
          <a:ln w="222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2148" y="280720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4D399"/>
                </a:solidFill>
                <a:latin typeface="Segoe UI Semibold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97496" y="342900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8FAFC"/>
                </a:solidFill>
                <a:latin typeface="Segoe UI Semibold"/>
              </a:rPr>
              <a:t>SHA-256 Hash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5783" y="3867912"/>
            <a:ext cx="17465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0x7f3a…c19
sealed ✓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90303" y="3497580"/>
            <a:ext cx="219456" cy="0"/>
          </a:xfrm>
          <a:prstGeom prst="bentConnector3">
            <a:avLst/>
          </a:prstGeom>
          <a:ln w="28575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5400000">
            <a:off x="9390887" y="3424428"/>
            <a:ext cx="146304" cy="146304"/>
          </a:xfrm>
          <a:prstGeom prst="triangl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528047" y="2606040"/>
            <a:ext cx="1965960" cy="1783080"/>
          </a:xfrm>
          <a:prstGeom prst="roundRect">
            <a:avLst>
              <a:gd name="adj" fmla="val 7000"/>
            </a:avLst>
          </a:prstGeom>
          <a:solidFill>
            <a:srgbClr val="13213C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64139" y="2807208"/>
            <a:ext cx="493776" cy="493776"/>
          </a:xfrm>
          <a:prstGeom prst="ellipse">
            <a:avLst/>
          </a:prstGeom>
          <a:noFill/>
          <a:ln w="222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64139" y="280720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60A5FA"/>
                </a:solidFill>
                <a:latin typeface="Segoe UI Semibold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9487" y="342900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8FAFC"/>
                </a:solidFill>
                <a:latin typeface="Segoe UI Semibold"/>
              </a:rPr>
              <a:t>Enclave Attestation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37775" y="3867912"/>
            <a:ext cx="17465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NVIDIA CC ·
measurement 0x7f3a…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0292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B2C4C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14400" y="5230368"/>
            <a:ext cx="2331720" cy="40233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239512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4D399"/>
                </a:solidFill>
                <a:latin typeface="Segoe UI Semibold"/>
              </a:rPr>
              <a:t>VERIFIER AGENT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5029200"/>
            <a:ext cx="7955279" cy="1143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8FAFC"/>
                </a:solidFill>
                <a:latin typeface="Segoe UI Semibold"/>
              </a:rPr>
              <a:t>No claim reaches an investigator until it is re-derived against raw evidence.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Every reasoning trace is persisted to the audit log — courts can replay the AI's "thought process."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AEGIS-X  ·  HACK-KP 2026  ·  Confidential — Authorized Agencies Only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932688"/>
            <a:ext cx="1280160" cy="0"/>
          </a:xfrm>
          <a:prstGeom prst="bentConnector3">
            <a:avLst/>
          </a:prstGeom>
          <a:ln w="381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Segoe UI Semibold"/>
              </a:rPr>
              <a:t>GUARDIAN NETWORK · NETWORK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Segoe UI Semibold"/>
              </a:rPr>
              <a:t>Every deployment makes every other agency stronger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457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7863840" cy="40233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92224"/>
            <a:ext cx="7863840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2D3EE"/>
                </a:solidFill>
                <a:latin typeface="Segoe UI Semibold"/>
              </a:rPr>
              <a:t>Arrows carry DP-noised gradients only — raw data never leaves the premises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5989320" y="2468880"/>
            <a:ext cx="0" cy="1325880"/>
          </a:xfrm>
          <a:prstGeom prst="bentConnector3">
            <a:avLst/>
          </a:prstGeom>
          <a:ln w="19050">
            <a:solidFill>
              <a:srgbClr val="273A5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5989320" y="3131820"/>
            <a:ext cx="2930006" cy="662940"/>
          </a:xfrm>
          <a:prstGeom prst="bentConnector3">
            <a:avLst/>
          </a:prstGeom>
          <a:ln w="19050">
            <a:solidFill>
              <a:srgbClr val="273A5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989320" y="3794760"/>
            <a:ext cx="2930006" cy="662940"/>
          </a:xfrm>
          <a:prstGeom prst="bentConnector3">
            <a:avLst/>
          </a:prstGeom>
          <a:ln w="19050">
            <a:solidFill>
              <a:srgbClr val="273A5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89320" y="3794760"/>
            <a:ext cx="0" cy="1325880"/>
          </a:xfrm>
          <a:prstGeom prst="bentConnector3">
            <a:avLst/>
          </a:prstGeom>
          <a:ln w="19050">
            <a:solidFill>
              <a:srgbClr val="273A5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059313" y="3794760"/>
            <a:ext cx="2930007" cy="662940"/>
          </a:xfrm>
          <a:prstGeom prst="bentConnector3">
            <a:avLst/>
          </a:prstGeom>
          <a:ln w="19050">
            <a:solidFill>
              <a:srgbClr val="273A5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3059313" y="3131820"/>
            <a:ext cx="2930007" cy="662940"/>
          </a:xfrm>
          <a:prstGeom prst="bentConnector3">
            <a:avLst/>
          </a:prstGeom>
          <a:ln w="19050">
            <a:solidFill>
              <a:srgbClr val="273A5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43500" y="2112264"/>
            <a:ext cx="1691640" cy="713232"/>
          </a:xfrm>
          <a:prstGeom prst="roundRect">
            <a:avLst>
              <a:gd name="adj" fmla="val 18000"/>
            </a:avLst>
          </a:prstGeom>
          <a:solidFill>
            <a:srgbClr val="13213C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3500" y="2112264"/>
            <a:ext cx="1691640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8FAFC"/>
                </a:solidFill>
                <a:latin typeface="Segoe UI Semibold"/>
              </a:rPr>
              <a:t>State CID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3506" y="2775204"/>
            <a:ext cx="1691640" cy="713232"/>
          </a:xfrm>
          <a:prstGeom prst="roundRect">
            <a:avLst>
              <a:gd name="adj" fmla="val 18000"/>
            </a:avLst>
          </a:prstGeom>
          <a:solidFill>
            <a:srgbClr val="13213C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3506" y="2775204"/>
            <a:ext cx="1691640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8FAFC"/>
                </a:solidFill>
                <a:latin typeface="Segoe UI Semibold"/>
              </a:rPr>
              <a:t>Cyber Cell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3506" y="4101084"/>
            <a:ext cx="1691640" cy="713232"/>
          </a:xfrm>
          <a:prstGeom prst="roundRect">
            <a:avLst>
              <a:gd name="adj" fmla="val 18000"/>
            </a:avLst>
          </a:prstGeom>
          <a:solidFill>
            <a:srgbClr val="13213C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3506" y="4101084"/>
            <a:ext cx="1691640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8FAFC"/>
                </a:solidFill>
                <a:latin typeface="Segoe UI Semibold"/>
              </a:rPr>
              <a:t>I4C / CCTNS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43500" y="4764024"/>
            <a:ext cx="1691640" cy="713232"/>
          </a:xfrm>
          <a:prstGeom prst="roundRect">
            <a:avLst>
              <a:gd name="adj" fmla="val 18000"/>
            </a:avLst>
          </a:prstGeom>
          <a:solidFill>
            <a:srgbClr val="13213C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43500" y="4764024"/>
            <a:ext cx="1691640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8FAFC"/>
                </a:solidFill>
                <a:latin typeface="Segoe UI Semibold"/>
              </a:rPr>
              <a:t>INTERPOL NCB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13493" y="4101084"/>
            <a:ext cx="1691640" cy="713232"/>
          </a:xfrm>
          <a:prstGeom prst="roundRect">
            <a:avLst>
              <a:gd name="adj" fmla="val 18000"/>
            </a:avLst>
          </a:prstGeom>
          <a:solidFill>
            <a:srgbClr val="13213C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13493" y="4101084"/>
            <a:ext cx="1691640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8FAFC"/>
                </a:solidFill>
                <a:latin typeface="Segoe UI Semibold"/>
              </a:rPr>
              <a:t>Forensic Lab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13493" y="2775204"/>
            <a:ext cx="1691640" cy="713232"/>
          </a:xfrm>
          <a:prstGeom prst="roundRect">
            <a:avLst>
              <a:gd name="adj" fmla="val 18000"/>
            </a:avLst>
          </a:prstGeom>
          <a:solidFill>
            <a:srgbClr val="13213C"/>
          </a:solidFill>
          <a:ln w="1905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13493" y="2775204"/>
            <a:ext cx="1691640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8FAFC"/>
                </a:solidFill>
                <a:latin typeface="Segoe UI Semibold"/>
              </a:rPr>
              <a:t>Anti-Traffick Unit</a:t>
            </a:r>
          </a:p>
        </p:txBody>
      </p:sp>
      <p:sp>
        <p:nvSpPr>
          <p:cNvPr id="27" name="Oval 26"/>
          <p:cNvSpPr/>
          <p:nvPr/>
        </p:nvSpPr>
        <p:spPr>
          <a:xfrm>
            <a:off x="4846320" y="3268980"/>
            <a:ext cx="2286000" cy="1051560"/>
          </a:xfrm>
          <a:prstGeom prst="ellipse">
            <a:avLst/>
          </a:prstGeom>
          <a:solidFill>
            <a:srgbClr val="0E749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3268980"/>
            <a:ext cx="2286000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8FAFC"/>
                </a:solidFill>
                <a:latin typeface="Segoe UI Semibold"/>
              </a:rPr>
              <a:t>SECURE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8FAFC"/>
                </a:solidFill>
                <a:latin typeface="Segoe UI Semibold"/>
              </a:rPr>
              <a:t>AGGREGATOR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7F2FB"/>
                </a:solidFill>
                <a:latin typeface="Segoe UI"/>
              </a:rPr>
              <a:t>FL + Diff. Privacy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806440"/>
            <a:ext cx="10908792" cy="658368"/>
          </a:xfrm>
          <a:prstGeom prst="roundRect">
            <a:avLst>
              <a:gd name="adj" fmla="val 12000"/>
            </a:avLst>
          </a:prstGeom>
          <a:solidFill>
            <a:srgbClr val="1B2C4C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806440"/>
            <a:ext cx="10424160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Segoe UI Semibold"/>
              </a:rPr>
              <a:t>Agency #200 benefits from the experience of 199 others.  </a:t>
            </a:r>
            <a:r>
              <a:rPr sz="1150" b="1">
                <a:solidFill>
                  <a:srgbClr val="A78BFA"/>
                </a:solidFill>
                <a:latin typeface="Segoe UI Semibold"/>
              </a:rPr>
              <a:t>The Flock Safety pattern: data-network effects → 25× revenue multiples.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AEGIS-X  ·  HACK-KP 2026  ·  Confidential — Authorized Agencies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932688"/>
            <a:ext cx="1280160" cy="0"/>
          </a:xfrm>
          <a:prstGeom prst="bentConnector3">
            <a:avLst/>
          </a:prstGeom>
          <a:ln w="381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Segoe UI Semibold"/>
              </a:rPr>
              <a:t>BILLION-DOLLAR 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Segoe UI Semibold"/>
              </a:rPr>
              <a:t>Modest penetration clears $1B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457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65960"/>
          <a:ext cx="1090879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651760"/>
                <a:gridCol w="1737360"/>
                <a:gridCol w="1673352"/>
                <a:gridCol w="2011680"/>
              </a:tblGrid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8FAFC"/>
                          </a:solidFill>
                          <a:latin typeface="Segoe UI"/>
                        </a:rPr>
                        <a:t>Scenario</a:t>
                      </a:r>
                    </a:p>
                  </a:txBody>
                  <a:tcPr marL="146304" marR="91440" marT="36576" marB="36576" anchor="ctr">
                    <a:solidFill>
                      <a:srgbClr val="1B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8FAFC"/>
                          </a:solidFill>
                          <a:latin typeface="Segoe UI"/>
                        </a:rPr>
                        <a:t>Agencies × ACV</a:t>
                      </a:r>
                    </a:p>
                  </a:txBody>
                  <a:tcPr marL="146304" marR="91440" marT="36576" marB="36576" anchor="ctr">
                    <a:solidFill>
                      <a:srgbClr val="1B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8FAFC"/>
                          </a:solidFill>
                          <a:latin typeface="Segoe UI"/>
                        </a:rPr>
                        <a:t>ARR</a:t>
                      </a:r>
                    </a:p>
                  </a:txBody>
                  <a:tcPr marL="146304" marR="91440" marT="36576" marB="36576" anchor="ctr">
                    <a:solidFill>
                      <a:srgbClr val="1B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8FAFC"/>
                          </a:solidFill>
                          <a:latin typeface="Segoe UI"/>
                        </a:rPr>
                        <a:t>Multiple</a:t>
                      </a:r>
                    </a:p>
                  </a:txBody>
                  <a:tcPr marL="146304" marR="91440" marT="36576" marB="36576" anchor="ctr">
                    <a:solidFill>
                      <a:srgbClr val="1B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A1426"/>
                          </a:solidFill>
                          <a:latin typeface="Segoe UI"/>
                        </a:rPr>
                        <a:t>Valuation</a:t>
                      </a:r>
                    </a:p>
                  </a:txBody>
                  <a:tcPr marL="146304" marR="91440" marT="36576" marB="36576" anchor="ctr">
                    <a:solidFill>
                      <a:srgbClr val="0E7490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8FAFC"/>
                          </a:solidFill>
                          <a:latin typeface="Segoe UI"/>
                        </a:rPr>
                        <a:t>Conservative</a:t>
                      </a:r>
                    </a:p>
                  </a:txBody>
                  <a:tcPr marL="146304" marR="91440" marT="36576" marB="36576" anchor="ctr">
                    <a:solidFill>
                      <a:srgbClr val="132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94A3B8"/>
                          </a:solidFill>
                          <a:latin typeface="Segoe UI"/>
                        </a:rPr>
                        <a:t>200 × $500k</a:t>
                      </a:r>
                    </a:p>
                  </a:txBody>
                  <a:tcPr marL="146304" marR="91440" marT="36576" marB="36576" anchor="ctr">
                    <a:solidFill>
                      <a:srgbClr val="132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94A3B8"/>
                          </a:solidFill>
                          <a:latin typeface="Segoe UI"/>
                        </a:rPr>
                        <a:t>$100M</a:t>
                      </a:r>
                    </a:p>
                  </a:txBody>
                  <a:tcPr marL="146304" marR="91440" marT="36576" marB="36576" anchor="ctr">
                    <a:solidFill>
                      <a:srgbClr val="132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94A3B8"/>
                          </a:solidFill>
                          <a:latin typeface="Segoe UI"/>
                        </a:rPr>
                        <a:t>10×</a:t>
                      </a:r>
                    </a:p>
                  </a:txBody>
                  <a:tcPr marL="146304" marR="91440" marT="36576" marB="36576" anchor="ctr">
                    <a:solidFill>
                      <a:srgbClr val="132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D3EE"/>
                          </a:solidFill>
                          <a:latin typeface="Segoe UI"/>
                        </a:rPr>
                        <a:t>$1.0B</a:t>
                      </a:r>
                    </a:p>
                  </a:txBody>
                  <a:tcPr marL="146304" marR="91440" marT="36576" marB="36576" anchor="ctr">
                    <a:solidFill>
                      <a:srgbClr val="0F2B33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8FAFC"/>
                          </a:solidFill>
                          <a:latin typeface="Segoe UI"/>
                        </a:rPr>
                        <a:t>Base</a:t>
                      </a:r>
                    </a:p>
                  </a:txBody>
                  <a:tcPr marL="146304" marR="91440" marT="36576" marB="36576" anchor="ctr">
                    <a:solidFill>
                      <a:srgbClr val="132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94A3B8"/>
                          </a:solidFill>
                          <a:latin typeface="Segoe UI"/>
                        </a:rPr>
                        <a:t>300 × $500k</a:t>
                      </a:r>
                    </a:p>
                  </a:txBody>
                  <a:tcPr marL="146304" marR="91440" marT="36576" marB="36576" anchor="ctr">
                    <a:solidFill>
                      <a:srgbClr val="132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94A3B8"/>
                          </a:solidFill>
                          <a:latin typeface="Segoe UI"/>
                        </a:rPr>
                        <a:t>$150M</a:t>
                      </a:r>
                    </a:p>
                  </a:txBody>
                  <a:tcPr marL="146304" marR="91440" marT="36576" marB="36576" anchor="ctr">
                    <a:solidFill>
                      <a:srgbClr val="132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94A3B8"/>
                          </a:solidFill>
                          <a:latin typeface="Segoe UI"/>
                        </a:rPr>
                        <a:t>12×</a:t>
                      </a:r>
                    </a:p>
                  </a:txBody>
                  <a:tcPr marL="146304" marR="91440" marT="36576" marB="36576" anchor="ctr">
                    <a:solidFill>
                      <a:srgbClr val="132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D3EE"/>
                          </a:solidFill>
                          <a:latin typeface="Segoe UI"/>
                        </a:rPr>
                        <a:t>$1.8B</a:t>
                      </a:r>
                    </a:p>
                  </a:txBody>
                  <a:tcPr marL="146304" marR="91440" marT="36576" marB="36576" anchor="ctr">
                    <a:solidFill>
                      <a:srgbClr val="0F2B33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34D399"/>
                          </a:solidFill>
                          <a:latin typeface="Segoe UI"/>
                        </a:rPr>
                        <a:t>Growth · network effect</a:t>
                      </a:r>
                    </a:p>
                  </a:txBody>
                  <a:tcPr marL="146304" marR="91440" marT="36576" marB="36576" anchor="ctr">
                    <a:solidFill>
                      <a:srgbClr val="1B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CBD5E1"/>
                          </a:solidFill>
                          <a:latin typeface="Segoe UI"/>
                        </a:rPr>
                        <a:t>500 × $800k</a:t>
                      </a:r>
                    </a:p>
                  </a:txBody>
                  <a:tcPr marL="146304" marR="91440" marT="36576" marB="36576" anchor="ctr">
                    <a:solidFill>
                      <a:srgbClr val="1B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CBD5E1"/>
                          </a:solidFill>
                          <a:latin typeface="Segoe UI"/>
                        </a:rPr>
                        <a:t>$400M</a:t>
                      </a:r>
                    </a:p>
                  </a:txBody>
                  <a:tcPr marL="146304" marR="91440" marT="36576" marB="36576" anchor="ctr">
                    <a:solidFill>
                      <a:srgbClr val="1B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CBD5E1"/>
                          </a:solidFill>
                          <a:latin typeface="Segoe UI"/>
                        </a:rPr>
                        <a:t>15–25×</a:t>
                      </a:r>
                    </a:p>
                  </a:txBody>
                  <a:tcPr marL="146304" marR="91440" marT="36576" marB="36576" anchor="ctr">
                    <a:solidFill>
                      <a:srgbClr val="1B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34D399"/>
                          </a:solidFill>
                          <a:latin typeface="Segoe UI"/>
                        </a:rPr>
                        <a:t>$6B+</a:t>
                      </a:r>
                    </a:p>
                  </a:txBody>
                  <a:tcPr marL="146304" marR="91440" marT="36576" marB="36576" anchor="ctr">
                    <a:solidFill>
                      <a:srgbClr val="0F2B33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52628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1B2C4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2651760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TAM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>
                <a:solidFill>
                  <a:srgbClr val="22D3EE"/>
                </a:solidFill>
                <a:latin typeface="Segoe UI Semibold"/>
              </a:rPr>
              <a:t>$36B+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49039" y="4709160"/>
            <a:ext cx="0" cy="548640"/>
          </a:xfrm>
          <a:prstGeom prst="bentConnector3">
            <a:avLst/>
          </a:prstGeom>
          <a:ln w="12700">
            <a:solidFill>
              <a:srgbClr val="273A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77639" y="4526280"/>
            <a:ext cx="7406640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94A3B8"/>
                </a:solidFill>
                <a:latin typeface="Segoe UI Semibold"/>
              </a:rPr>
              <a:t>PUBLIC-COMP ANCHORS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F8FAFC"/>
                </a:solidFill>
                <a:latin typeface="Segoe UI Semibold"/>
              </a:rPr>
              <a:t>Cellebrite </a:t>
            </a:r>
            <a:r>
              <a:rPr sz="1100" b="0">
                <a:solidFill>
                  <a:srgbClr val="94A3B8"/>
                </a:solidFill>
                <a:latin typeface="Segoe UI"/>
              </a:rPr>
              <a:t>$480.8M ARR (~6× floor)   ·   </a:t>
            </a:r>
            <a:r>
              <a:rPr sz="1150" b="1">
                <a:solidFill>
                  <a:srgbClr val="F8FAFC"/>
                </a:solidFill>
                <a:latin typeface="Segoe UI Semibold"/>
              </a:rPr>
              <a:t>Magnet </a:t>
            </a:r>
            <a:r>
              <a:rPr sz="1100" b="0">
                <a:solidFill>
                  <a:srgbClr val="94A3B8"/>
                </a:solidFill>
                <a:latin typeface="Segoe UI"/>
              </a:rPr>
              <a:t>$1.3B exit (~8–9×)   ·   </a:t>
            </a:r>
            <a:r>
              <a:rPr sz="1150" b="1">
                <a:solidFill>
                  <a:srgbClr val="F8FAFC"/>
                </a:solidFill>
                <a:latin typeface="Segoe UI Semibold"/>
              </a:rPr>
              <a:t>Flock </a:t>
            </a:r>
            <a:r>
              <a:rPr sz="1100" b="0">
                <a:solidFill>
                  <a:srgbClr val="94A3B8"/>
                </a:solidFill>
                <a:latin typeface="Segoe UI"/>
              </a:rPr>
              <a:t>$7.5B (~25×, network-effect ceiling)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961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2D3EE"/>
                </a:solidFill>
                <a:latin typeface="Segoe UI Semibold"/>
              </a:rPr>
              <a:t>GO-TO-MARKET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870448"/>
            <a:ext cx="3246120" cy="457200"/>
          </a:xfrm>
          <a:prstGeom prst="roundRect">
            <a:avLst>
              <a:gd name="adj" fmla="val 30000"/>
            </a:avLst>
          </a:prstGeom>
          <a:solidFill>
            <a:srgbClr val="13213C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870448"/>
            <a:ext cx="32461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 Semibold"/>
              </a:rPr>
              <a:t>Kerala cyber-cell pilot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31920" y="6099048"/>
            <a:ext cx="320040" cy="0"/>
          </a:xfrm>
          <a:prstGeom prst="bentConnector3">
            <a:avLst/>
          </a:prstGeom>
          <a:ln w="3175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97680" y="5870448"/>
            <a:ext cx="3246120" cy="457200"/>
          </a:xfrm>
          <a:prstGeom prst="roundRect">
            <a:avLst>
              <a:gd name="adj" fmla="val 30000"/>
            </a:avLst>
          </a:prstGeom>
          <a:solidFill>
            <a:srgbClr val="13213C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5870448"/>
            <a:ext cx="32461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 Semibold"/>
              </a:rPr>
              <a:t>I4C / CCTNS national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89520" y="6099048"/>
            <a:ext cx="320039" cy="0"/>
          </a:xfrm>
          <a:prstGeom prst="bentConnector3">
            <a:avLst/>
          </a:prstGeom>
          <a:ln w="31750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955279" y="5870448"/>
            <a:ext cx="3246120" cy="457200"/>
          </a:xfrm>
          <a:prstGeom prst="roundRect">
            <a:avLst>
              <a:gd name="adj" fmla="val 30000"/>
            </a:avLst>
          </a:prstGeom>
          <a:solidFill>
            <a:srgbClr val="13213C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5870448"/>
            <a:ext cx="32461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 Semibold"/>
              </a:rPr>
              <a:t>INTERPOL / ICSE global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AEGIS-X  ·  HACK-KP 2026  ·  Confidential — Authorized Agencies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932688"/>
            <a:ext cx="1280160" cy="0"/>
          </a:xfrm>
          <a:prstGeom prst="bentConnector3">
            <a:avLst/>
          </a:prstGeom>
          <a:ln w="381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Segoe UI Semibold"/>
              </a:rPr>
              <a:t>ROADMAP &amp;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Segoe UI Semibold"/>
              </a:rPr>
              <a:t>Scale responsibly, with guardrails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457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 Semibold"/>
              </a:rPr>
              <a:t>ROADMAP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60120" y="2258568"/>
            <a:ext cx="0" cy="3328416"/>
          </a:xfrm>
          <a:prstGeom prst="bentConnector3">
            <a:avLst/>
          </a:prstGeom>
          <a:ln w="19050">
            <a:solidFill>
              <a:srgbClr val="273A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77240" y="2258568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585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A1426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1284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2D3EE"/>
                </a:solidFill>
                <a:latin typeface="Segoe UI Semibold"/>
              </a:rPr>
              <a:t>Phase 1  ·  </a:t>
            </a:r>
            <a:r>
              <a:rPr sz="1250" b="1">
                <a:solidFill>
                  <a:srgbClr val="F8FAFC"/>
                </a:solidFill>
                <a:latin typeface="Segoe UI Semibold"/>
              </a:rPr>
              <a:t>Pilot + Edge Kit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578608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>
                <a:solidFill>
                  <a:srgbClr val="94A3B8"/>
                </a:solidFill>
                <a:latin typeface="Segoe UI"/>
              </a:rPr>
              <a:t>Kerala cyber-cell pilot on air-gapped hardware; AEGIS-X Edge NPU field kit seals the scene manifest.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227832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278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A1426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18211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Segoe UI Semibold"/>
              </a:rPr>
              <a:t>Phase 2  ·  </a:t>
            </a:r>
            <a:r>
              <a:rPr sz="1250" b="1">
                <a:solidFill>
                  <a:srgbClr val="F8FAFC"/>
                </a:solidFill>
                <a:latin typeface="Segoe UI Semibold"/>
              </a:rPr>
              <a:t>Agency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547872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>
                <a:solidFill>
                  <a:srgbClr val="94A3B8"/>
                </a:solidFill>
                <a:latin typeface="Segoe UI"/>
              </a:rPr>
              <a:t>National rollout via I4C / CCTNS + CDR/IPDR data lakes; multi-device fusion at scale.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197096"/>
            <a:ext cx="365760" cy="36576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970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A1426"/>
                </a:solidFill>
                <a:latin typeface="Segoe UI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15137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4D399"/>
                </a:solidFill>
                <a:latin typeface="Segoe UI Semibold"/>
              </a:rPr>
              <a:t>Phase 3  ·  </a:t>
            </a:r>
            <a:r>
              <a:rPr sz="1250" b="1">
                <a:solidFill>
                  <a:srgbClr val="F8FAFC"/>
                </a:solidFill>
                <a:latin typeface="Segoe UI Semibold"/>
              </a:rPr>
              <a:t>Federated Guardian 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517136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>
                <a:solidFill>
                  <a:srgbClr val="94A3B8"/>
                </a:solidFill>
                <a:latin typeface="Segoe UI"/>
              </a:rPr>
              <a:t>Cross-agency FL + secure aggregation + DP — every deployment improves detection; data never moves.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166359"/>
            <a:ext cx="365760" cy="36576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6635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A1426"/>
                </a:solidFill>
                <a:latin typeface="Segoe UI Semibol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1206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A78BFA"/>
                </a:solidFill>
                <a:latin typeface="Segoe UI Semibold"/>
              </a:rPr>
              <a:t>Phase 4  ·  </a:t>
            </a:r>
            <a:r>
              <a:rPr sz="1250" b="1">
                <a:solidFill>
                  <a:srgbClr val="F8FAFC"/>
                </a:solidFill>
                <a:latin typeface="Segoe UI Semibold"/>
              </a:rPr>
              <a:t>International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486400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>
                <a:solidFill>
                  <a:srgbClr val="94A3B8"/>
                </a:solidFill>
                <a:latin typeface="Segoe UI"/>
              </a:rPr>
              <a:t>INTERPOL / ICSE interoperability via VICS; sovereign-by-default across jurisdictions.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148840"/>
            <a:ext cx="5148072" cy="3931920"/>
          </a:xfrm>
          <a:prstGeom prst="roundRect">
            <a:avLst>
              <a:gd name="adj" fmla="val 5000"/>
            </a:avLst>
          </a:prstGeom>
          <a:solidFill>
            <a:srgbClr val="13213C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23317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78BFA"/>
                </a:solidFill>
                <a:latin typeface="Segoe UI Semibold"/>
              </a:rPr>
              <a:t>ETHICS GUARDRAILS</a:t>
            </a:r>
          </a:p>
        </p:txBody>
      </p:sp>
      <p:sp>
        <p:nvSpPr>
          <p:cNvPr id="27" name="Oval 26"/>
          <p:cNvSpPr/>
          <p:nvPr/>
        </p:nvSpPr>
        <p:spPr>
          <a:xfrm>
            <a:off x="6720840" y="2834639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274320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 Semibold"/>
              </a:rPr>
              <a:t>Authorized-agency-only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04495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>
                <a:solidFill>
                  <a:srgbClr val="94A3B8"/>
                </a:solidFill>
                <a:latin typeface="Segoe UI"/>
              </a:rPr>
              <a:t>Deployed exclusively for vetted child-protection units.</a:t>
            </a:r>
          </a:p>
        </p:txBody>
      </p:sp>
      <p:sp>
        <p:nvSpPr>
          <p:cNvPr id="30" name="Oval 29"/>
          <p:cNvSpPr/>
          <p:nvPr/>
        </p:nvSpPr>
        <p:spPr>
          <a:xfrm>
            <a:off x="6720840" y="3493007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86600" y="3401568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 Semibold"/>
              </a:rPr>
              <a:t>Privacy by 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70332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>
                <a:solidFill>
                  <a:srgbClr val="94A3B8"/>
                </a:solidFill>
                <a:latin typeface="Segoe UI"/>
              </a:rPr>
              <a:t>Air-gapped, sovereign; no data ever leaves the agency.</a:t>
            </a:r>
          </a:p>
        </p:txBody>
      </p:sp>
      <p:sp>
        <p:nvSpPr>
          <p:cNvPr id="33" name="Oval 32"/>
          <p:cNvSpPr/>
          <p:nvPr/>
        </p:nvSpPr>
        <p:spPr>
          <a:xfrm>
            <a:off x="6720840" y="4151376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86600" y="4059936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 Semibold"/>
              </a:rPr>
              <a:t>Human-in-the-loop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436168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>
                <a:solidFill>
                  <a:srgbClr val="94A3B8"/>
                </a:solidFill>
                <a:latin typeface="Segoe UI"/>
              </a:rPr>
              <a:t>AI triages &amp; recommends — humans decide and are accountable.</a:t>
            </a:r>
          </a:p>
        </p:txBody>
      </p:sp>
      <p:sp>
        <p:nvSpPr>
          <p:cNvPr id="36" name="Oval 35"/>
          <p:cNvSpPr/>
          <p:nvPr/>
        </p:nvSpPr>
        <p:spPr>
          <a:xfrm>
            <a:off x="6720840" y="4809744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86600" y="4718304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 Semibold"/>
              </a:rPr>
              <a:t>No training on illicit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502005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>
                <a:solidFill>
                  <a:srgbClr val="94A3B8"/>
                </a:solidFill>
                <a:latin typeface="Segoe UI"/>
              </a:rPr>
              <a:t>Synthetic data &amp; benign transfer learning; no CSAM ingested to train.</a:t>
            </a:r>
          </a:p>
        </p:txBody>
      </p:sp>
      <p:sp>
        <p:nvSpPr>
          <p:cNvPr id="39" name="Oval 38"/>
          <p:cNvSpPr/>
          <p:nvPr/>
        </p:nvSpPr>
        <p:spPr>
          <a:xfrm>
            <a:off x="6720840" y="5468112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86600" y="537667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8FAFC"/>
                </a:solidFill>
                <a:latin typeface="Segoe UI Semibold"/>
              </a:rPr>
              <a:t>Bias safeguards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567842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>
                <a:solidFill>
                  <a:srgbClr val="94A3B8"/>
                </a:solidFill>
                <a:latin typeface="Segoe UI"/>
              </a:rPr>
              <a:t>Linear Sequential Unmasking + XAI to resist confirmation bias.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AEGIS-X  ·  HACK-KP 2026  ·  Confidential — Authorized Agencies Only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3200400"/>
            <a:ext cx="5486400" cy="5486400"/>
          </a:xfrm>
          <a:prstGeom prst="ellipse">
            <a:avLst/>
          </a:prstGeom>
          <a:noFill/>
          <a:ln w="15240">
            <a:solidFill>
              <a:srgbClr val="122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2011680"/>
            <a:ext cx="5486400" cy="5486400"/>
          </a:xfrm>
          <a:prstGeom prst="ellipse">
            <a:avLst/>
          </a:prstGeom>
          <a:noFill/>
          <a:ln w="15240">
            <a:solidFill>
              <a:srgbClr val="122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3931920" y="2011680"/>
            <a:ext cx="4297680" cy="0"/>
          </a:xfrm>
          <a:prstGeom prst="bentConnector3">
            <a:avLst/>
          </a:prstGeom>
          <a:ln w="381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214884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200" b="1">
                <a:solidFill>
                  <a:srgbClr val="F8FAFC"/>
                </a:solidFill>
                <a:latin typeface="Segoe UI Semibold"/>
              </a:rPr>
              <a:t>AEGIS</a:t>
            </a:r>
            <a:r>
              <a:rPr sz="6200" b="1">
                <a:solidFill>
                  <a:srgbClr val="22D3EE"/>
                </a:solidFill>
                <a:latin typeface="Segoe UI Semibold"/>
              </a:rPr>
              <a:t>-X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22D3EE"/>
                </a:solidFill>
                <a:latin typeface="Segoe UI Semibold"/>
              </a:rPr>
              <a:t>From terabytes to testimony — in hours, not months.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4069080"/>
            <a:ext cx="6858000" cy="731520"/>
          </a:xfrm>
          <a:prstGeom prst="roundRect">
            <a:avLst>
              <a:gd name="adj" fmla="val 22000"/>
            </a:avLst>
          </a:prstGeom>
          <a:solidFill>
            <a:srgbClr val="1B2C4C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40690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8FAFC"/>
                </a:solidFill>
                <a:latin typeface="Segoe UI Semibold"/>
              </a:rPr>
              <a:t>Every hour saved is a child protected sooner.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Segoe UI Semibold"/>
              </a:rPr>
              <a:t>Every deployment makes every other agency stronger —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without a single file leaving home.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94A3B8"/>
                </a:solidFill>
                <a:latin typeface="Segoe UI Semibold"/>
              </a:rPr>
              <a:t>HACK-KP 2026</a:t>
            </a:r>
            <a:r>
              <a:rPr sz="1150" b="0">
                <a:solidFill>
                  <a:srgbClr val="94A3B8"/>
                </a:solidFill>
                <a:latin typeface="Segoe UI"/>
              </a:rPr>
              <a:t>   ·   Sovereign · Agentic · Court-Provable Fusion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AEGIS-X  ·  HACK-KP 2026  ·  Confidential — Authorized Agencies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